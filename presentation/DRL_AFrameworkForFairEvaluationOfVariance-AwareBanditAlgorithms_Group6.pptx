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6EA744-3C46-282D-2BCA-216A20EB752E}">
          <p14:sldIdLst>
            <p14:sldId id="256"/>
            <p14:sldId id="257"/>
            <p14:sldId id="258"/>
          </p14:sldIdLst>
        </p14:section>
        <p14:section name="Methodology" id="{14D2BA1B-09E3-A686-F6ED-D632B70FC2B6}">
          <p14:sldIdLst>
            <p14:sldId id="259"/>
            <p14:sldId id="260"/>
            <p14:sldId id="261"/>
            <p14:sldId id="262"/>
          </p14:sldIdLst>
        </p14:section>
        <p14:section name="Results" id="{2EB9FC81-86F4-F223-D76F-C3CBA0454478}">
          <p14:sldIdLst>
            <p14:sldId id="263"/>
            <p14:sldId id="264"/>
          </p14:sldIdLst>
        </p14:section>
        <p14:section name="Reproduction" id="{35800C93-7B3C-9CF5-C2F3-B7FE1AD88138}">
          <p14:sldIdLst>
            <p14:sldId id="265"/>
            <p14:sldId id="266"/>
            <p14:sldId id="267"/>
          </p14:sldIdLst>
        </p14:section>
        <p14:section name="Discussion" id="{239BF3C9-3730-AA94-6BDD-9DE206B63FF9}">
          <p14:sldIdLst>
            <p14:sldId id="268"/>
            <p14:sldId id="269"/>
            <p14:sldId id="271"/>
          </p14:sldIdLst>
        </p14:section>
        <p14:section name="Close" id="{6D07D06F-D75F-C246-C87F-F893DE05D2E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aji, Arjun" userId="197da013-053a-4df7-a19d-bd4fabb751c5" providerId="ADAL" clId="{E54CA98C-C1A6-4F4F-9783-54835677EB09}"/>
    <pc:docChg chg="custSel modSld">
      <pc:chgData name="Balaji, Arjun" userId="197da013-053a-4df7-a19d-bd4fabb751c5" providerId="ADAL" clId="{E54CA98C-C1A6-4F4F-9783-54835677EB09}" dt="2026-10-11T12:25:40.355" v="13" actId="1076"/>
      <pc:docMkLst>
        <pc:docMk/>
      </pc:docMkLst>
      <pc:sldChg chg="delSp modSp mod">
        <pc:chgData name="Balaji, Arjun" userId="197da013-053a-4df7-a19d-bd4fabb751c5" providerId="ADAL" clId="{E54CA98C-C1A6-4F4F-9783-54835677EB09}" dt="2026-10-11T12:25:12.271" v="12" actId="478"/>
        <pc:sldMkLst>
          <pc:docMk/>
          <pc:sldMk cId="0" sldId="256"/>
        </pc:sldMkLst>
        <pc:spChg chg="mod">
          <ac:chgData name="Balaji, Arjun" userId="197da013-053a-4df7-a19d-bd4fabb751c5" providerId="ADAL" clId="{E54CA98C-C1A6-4F4F-9783-54835677EB09}" dt="2026-10-11T12:24:49.358" v="11" actId="20577"/>
          <ac:spMkLst>
            <pc:docMk/>
            <pc:sldMk cId="0" sldId="256"/>
            <ac:spMk id="16" creationId="{00000000-0000-0000-0000-000000000000}"/>
          </ac:spMkLst>
        </pc:spChg>
        <pc:spChg chg="del">
          <ac:chgData name="Balaji, Arjun" userId="197da013-053a-4df7-a19d-bd4fabb751c5" providerId="ADAL" clId="{E54CA98C-C1A6-4F4F-9783-54835677EB09}" dt="2026-10-11T12:25:12.271" v="12" actId="478"/>
          <ac:spMkLst>
            <pc:docMk/>
            <pc:sldMk cId="0" sldId="256"/>
            <ac:spMk id="18" creationId="{00000000-0000-0000-0000-000000000000}"/>
          </ac:spMkLst>
        </pc:spChg>
      </pc:sldChg>
      <pc:sldChg chg="modSp mod">
        <pc:chgData name="Balaji, Arjun" userId="197da013-053a-4df7-a19d-bd4fabb751c5" providerId="ADAL" clId="{E54CA98C-C1A6-4F4F-9783-54835677EB09}" dt="2026-10-11T12:25:40.355" v="13" actId="1076"/>
        <pc:sldMkLst>
          <pc:docMk/>
          <pc:sldMk cId="0" sldId="265"/>
        </pc:sldMkLst>
        <pc:spChg chg="mod">
          <ac:chgData name="Balaji, Arjun" userId="197da013-053a-4df7-a19d-bd4fabb751c5" providerId="ADAL" clId="{E54CA98C-C1A6-4F4F-9783-54835677EB09}" dt="2026-10-11T12:25:40.355" v="13" actId="1076"/>
          <ac:spMkLst>
            <pc:docMk/>
            <pc:sldMk cId="0" sldId="265"/>
            <ac:spMk id="8" creationId="{00000000-0000-0000-0000-000000000000}"/>
          </ac:spMkLst>
        </pc:spChg>
        <pc:spChg chg="mod">
          <ac:chgData name="Balaji, Arjun" userId="197da013-053a-4df7-a19d-bd4fabb751c5" providerId="ADAL" clId="{E54CA98C-C1A6-4F4F-9783-54835677EB09}" dt="2026-10-11T12:25:40.355" v="13" actId="1076"/>
          <ac:spMkLst>
            <pc:docMk/>
            <pc:sldMk cId="0" sldId="265"/>
            <ac:spMk id="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3A42"/>
                </a:solidFill>
                <a:latin typeface="+mn-lt"/>
              </a:defRPr>
            </a:pPr>
            <a:r>
              <a:rPr lang="en-US" sz="1300" b="0" i="0" u="none" strike="noStrike">
                <a:solidFill>
                  <a:srgbClr val="133A42"/>
                </a:solidFill>
                <a:latin typeface="+mn-lt"/>
              </a:rPr>
              <a:t>Final regret at T = 10⁶, paper Tables 3–5 (lower is better)</a:t>
            </a:r>
          </a:p>
        </c:rich>
      </c:tx>
      <c:overlay val="0"/>
    </c:title>
    <c:autoTitleDeleted val="0"/>
    <c:plotArea>
      <c:layout/>
      <c:barChart>
        <c:barDir val="col"/>
        <c:grouping val="clustered"/>
        <c:varyColors val="0"/>
        <c:ser>
          <c:idx val="0"/>
          <c:order val="0"/>
          <c:tx>
            <c:strRef>
              <c:f>Sheet1!$B$1</c:f>
              <c:strCache>
                <c:ptCount val="1"/>
                <c:pt idx="0">
                  <c:v>UCB</c:v>
                </c:pt>
              </c:strCache>
            </c:strRef>
          </c:tx>
          <c:spPr>
            <a:solidFill>
              <a:srgbClr val="8A949B"/>
            </a:solidFill>
            <a:effectLst/>
          </c:spPr>
          <c:invertIfNegative val="0"/>
          <c:dLbls>
            <c:numFmt formatCode="#,##0" sourceLinked="0"/>
            <c:spPr>
              <a:noFill/>
              <a:ln>
                <a:noFill/>
              </a:ln>
              <a:effectLst/>
            </c:spPr>
            <c:txPr>
              <a:bodyPr/>
              <a:lstStyle/>
              <a:p>
                <a:pPr>
                  <a:defRPr sz="900" b="0" i="0" u="none" strike="noStrike">
                    <a:solidFill>
                      <a:srgbClr val="133A4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A</c:v>
                </c:pt>
                <c:pt idx="1">
                  <c:v>Scenario B</c:v>
                </c:pt>
                <c:pt idx="2">
                  <c:v>Scenario C</c:v>
                </c:pt>
              </c:strCache>
            </c:strRef>
          </c:cat>
          <c:val>
            <c:numRef>
              <c:f>Sheet1!$B$2:$B$4</c:f>
              <c:numCache>
                <c:formatCode>General</c:formatCode>
                <c:ptCount val="3"/>
                <c:pt idx="0">
                  <c:v>238.17</c:v>
                </c:pt>
                <c:pt idx="1">
                  <c:v>1127.17</c:v>
                </c:pt>
                <c:pt idx="2">
                  <c:v>1172.57</c:v>
                </c:pt>
              </c:numCache>
            </c:numRef>
          </c:val>
          <c:extLst>
            <c:ext xmlns:c16="http://schemas.microsoft.com/office/drawing/2014/chart" uri="{C3380CC4-5D6E-409C-BE32-E72D297353CC}">
              <c16:uniqueId val="{00000000-7204-458B-9BAB-8C0F4D05B512}"/>
            </c:ext>
          </c:extLst>
        </c:ser>
        <c:ser>
          <c:idx val="1"/>
          <c:order val="1"/>
          <c:tx>
            <c:strRef>
              <c:f>Sheet1!$C$1</c:f>
              <c:strCache>
                <c:ptCount val="1"/>
                <c:pt idx="0">
                  <c:v>UCB-Tuned</c:v>
                </c:pt>
              </c:strCache>
            </c:strRef>
          </c:tx>
          <c:spPr>
            <a:solidFill>
              <a:srgbClr val="C0613A"/>
            </a:solidFill>
            <a:effectLst/>
          </c:spPr>
          <c:invertIfNegative val="0"/>
          <c:dLbls>
            <c:numFmt formatCode="#,##0" sourceLinked="0"/>
            <c:spPr>
              <a:noFill/>
              <a:ln>
                <a:noFill/>
              </a:ln>
              <a:effectLst/>
            </c:spPr>
            <c:txPr>
              <a:bodyPr/>
              <a:lstStyle/>
              <a:p>
                <a:pPr>
                  <a:defRPr sz="900" b="0" i="0" u="none" strike="noStrike">
                    <a:solidFill>
                      <a:srgbClr val="133A4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A</c:v>
                </c:pt>
                <c:pt idx="1">
                  <c:v>Scenario B</c:v>
                </c:pt>
                <c:pt idx="2">
                  <c:v>Scenario C</c:v>
                </c:pt>
              </c:strCache>
            </c:strRef>
          </c:cat>
          <c:val>
            <c:numRef>
              <c:f>Sheet1!$C$2:$C$4</c:f>
              <c:numCache>
                <c:formatCode>General</c:formatCode>
                <c:ptCount val="3"/>
                <c:pt idx="0">
                  <c:v>30.67</c:v>
                </c:pt>
                <c:pt idx="1">
                  <c:v>212.21</c:v>
                </c:pt>
                <c:pt idx="2">
                  <c:v>226.09</c:v>
                </c:pt>
              </c:numCache>
            </c:numRef>
          </c:val>
          <c:extLst>
            <c:ext xmlns:c16="http://schemas.microsoft.com/office/drawing/2014/chart" uri="{C3380CC4-5D6E-409C-BE32-E72D297353CC}">
              <c16:uniqueId val="{00000001-7204-458B-9BAB-8C0F4D05B512}"/>
            </c:ext>
          </c:extLst>
        </c:ser>
        <c:ser>
          <c:idx val="2"/>
          <c:order val="2"/>
          <c:tx>
            <c:strRef>
              <c:f>Sheet1!$D$1</c:f>
              <c:strCache>
                <c:ptCount val="1"/>
                <c:pt idx="0">
                  <c:v>UCB-V</c:v>
                </c:pt>
              </c:strCache>
            </c:strRef>
          </c:tx>
          <c:spPr>
            <a:solidFill>
              <a:srgbClr val="1F5C63"/>
            </a:solidFill>
            <a:effectLst/>
          </c:spPr>
          <c:invertIfNegative val="0"/>
          <c:dLbls>
            <c:numFmt formatCode="#,##0" sourceLinked="0"/>
            <c:spPr>
              <a:noFill/>
              <a:ln>
                <a:noFill/>
              </a:ln>
              <a:effectLst/>
            </c:spPr>
            <c:txPr>
              <a:bodyPr/>
              <a:lstStyle/>
              <a:p>
                <a:pPr>
                  <a:defRPr sz="900" b="0" i="0" u="none" strike="noStrike">
                    <a:solidFill>
                      <a:srgbClr val="133A4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A</c:v>
                </c:pt>
                <c:pt idx="1">
                  <c:v>Scenario B</c:v>
                </c:pt>
                <c:pt idx="2">
                  <c:v>Scenario C</c:v>
                </c:pt>
              </c:strCache>
            </c:strRef>
          </c:cat>
          <c:val>
            <c:numRef>
              <c:f>Sheet1!$D$2:$D$4</c:f>
              <c:numCache>
                <c:formatCode>General</c:formatCode>
                <c:ptCount val="3"/>
                <c:pt idx="0">
                  <c:v>109.93</c:v>
                </c:pt>
                <c:pt idx="1">
                  <c:v>346.58</c:v>
                </c:pt>
                <c:pt idx="2">
                  <c:v>367.65</c:v>
                </c:pt>
              </c:numCache>
            </c:numRef>
          </c:val>
          <c:extLst>
            <c:ext xmlns:c16="http://schemas.microsoft.com/office/drawing/2014/chart" uri="{C3380CC4-5D6E-409C-BE32-E72D297353CC}">
              <c16:uniqueId val="{00000002-7204-458B-9BAB-8C0F4D05B512}"/>
            </c:ext>
          </c:extLst>
        </c:ser>
        <c:ser>
          <c:idx val="3"/>
          <c:order val="3"/>
          <c:tx>
            <c:strRef>
              <c:f>Sheet1!$E$1</c:f>
              <c:strCache>
                <c:ptCount val="1"/>
                <c:pt idx="0">
                  <c:v>EUCBV</c:v>
                </c:pt>
              </c:strCache>
            </c:strRef>
          </c:tx>
          <c:spPr>
            <a:solidFill>
              <a:srgbClr val="C9BFA9"/>
            </a:solidFill>
            <a:effectLst/>
          </c:spPr>
          <c:invertIfNegative val="0"/>
          <c:dLbls>
            <c:numFmt formatCode="#,##0" sourceLinked="0"/>
            <c:spPr>
              <a:noFill/>
              <a:ln>
                <a:noFill/>
              </a:ln>
              <a:effectLst/>
            </c:spPr>
            <c:txPr>
              <a:bodyPr/>
              <a:lstStyle/>
              <a:p>
                <a:pPr>
                  <a:defRPr sz="900" b="0" i="0" u="none" strike="noStrike">
                    <a:solidFill>
                      <a:srgbClr val="133A4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A</c:v>
                </c:pt>
                <c:pt idx="1">
                  <c:v>Scenario B</c:v>
                </c:pt>
                <c:pt idx="2">
                  <c:v>Scenario C</c:v>
                </c:pt>
              </c:strCache>
            </c:strRef>
          </c:cat>
          <c:val>
            <c:numRef>
              <c:f>Sheet1!$E$2:$E$4</c:f>
              <c:numCache>
                <c:formatCode>General</c:formatCode>
                <c:ptCount val="3"/>
                <c:pt idx="0">
                  <c:v>47.73</c:v>
                </c:pt>
                <c:pt idx="1">
                  <c:v>461.36</c:v>
                </c:pt>
                <c:pt idx="2">
                  <c:v>476.31</c:v>
                </c:pt>
              </c:numCache>
            </c:numRef>
          </c:val>
          <c:extLst>
            <c:ext xmlns:c16="http://schemas.microsoft.com/office/drawing/2014/chart" uri="{C3380CC4-5D6E-409C-BE32-E72D297353CC}">
              <c16:uniqueId val="{00000003-7204-458B-9BAB-8C0F4D05B512}"/>
            </c:ext>
          </c:extLst>
        </c:ser>
        <c:ser>
          <c:idx val="4"/>
          <c:order val="4"/>
          <c:tx>
            <c:strRef>
              <c:f>Sheet1!$F$1</c:f>
              <c:strCache>
                <c:ptCount val="1"/>
                <c:pt idx="0">
                  <c:v>PAC-UCB</c:v>
                </c:pt>
              </c:strCache>
            </c:strRef>
          </c:tx>
          <c:spPr>
            <a:solidFill>
              <a:srgbClr val="6B7780"/>
            </a:solidFill>
            <a:effectLst/>
          </c:spPr>
          <c:invertIfNegative val="0"/>
          <c:dLbls>
            <c:numFmt formatCode="#,##0" sourceLinked="0"/>
            <c:spPr>
              <a:noFill/>
              <a:ln>
                <a:noFill/>
              </a:ln>
              <a:effectLst/>
            </c:spPr>
            <c:txPr>
              <a:bodyPr/>
              <a:lstStyle/>
              <a:p>
                <a:pPr>
                  <a:defRPr sz="900" b="0" i="0" u="none" strike="noStrike">
                    <a:solidFill>
                      <a:srgbClr val="133A4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A</c:v>
                </c:pt>
                <c:pt idx="1">
                  <c:v>Scenario B</c:v>
                </c:pt>
                <c:pt idx="2">
                  <c:v>Scenario C</c:v>
                </c:pt>
              </c:strCache>
            </c:strRef>
          </c:cat>
          <c:val>
            <c:numRef>
              <c:f>Sheet1!$F$2:$F$4</c:f>
              <c:numCache>
                <c:formatCode>General</c:formatCode>
                <c:ptCount val="3"/>
                <c:pt idx="0">
                  <c:v>99.5</c:v>
                </c:pt>
                <c:pt idx="1">
                  <c:v>395.89</c:v>
                </c:pt>
                <c:pt idx="2">
                  <c:v>417.34</c:v>
                </c:pt>
              </c:numCache>
            </c:numRef>
          </c:val>
          <c:extLst>
            <c:ext xmlns:c16="http://schemas.microsoft.com/office/drawing/2014/chart" uri="{C3380CC4-5D6E-409C-BE32-E72D297353CC}">
              <c16:uniqueId val="{00000004-7204-458B-9BAB-8C0F4D05B51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3A42"/>
                </a:solidFill>
                <a:latin typeface="+mn-lt"/>
              </a:defRPr>
            </a:pPr>
            <a:endParaRPr lang="en-US"/>
          </a:p>
        </c:txPr>
        <c:crossAx val="2094734552"/>
        <c:crosses val="autoZero"/>
        <c:auto val="1"/>
        <c:lblAlgn val="ctr"/>
        <c:lblOffset val="100"/>
        <c:noMultiLvlLbl val="1"/>
      </c:catAx>
      <c:valAx>
        <c:axId val="2094734552"/>
        <c:scaling>
          <c:orientation val="minMax"/>
          <c:max val="1400"/>
        </c:scaling>
        <c:delete val="0"/>
        <c:axPos val="l"/>
        <c:majorGridlines>
          <c:spPr>
            <a:ln w="9525" cap="flat">
              <a:solidFill>
                <a:srgbClr val="DDD8C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0"/>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100">
              <a:solidFill>
                <a:srgbClr val="133A4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587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we are Group 6. This presentation analyses "A Framework for Fair Evaluation of Variance-Aware Bandit Algorithms" by Elise Wolf. The paper builds a reproducible framework for comparing eight bandit algorithms. We explain its methods and results, then our own partial reproduction and critical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bandit learner must balance exploring uncertain options against exploiting the best one it knows. Earlier comparisons use narrow algorithm sets or fixed scenarios, and results can be distorted by different initial conditions and tuning budgets. The paper's framework, Bandit Playground, asks: how can performance differences be reliably detected, and when do variance-aware algorithms outperform classical ones?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Performance is measured by pseudo-regret: at every step, the best arm's mean minus the chosen arm's mean, summed up. With two arms, that equals the gap times the number of worse-arm pulls. In Scenario A the gap is 0.1, so a hundred worse-arm pulls cost ten. Lower is better. I verified the cited paper sections.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covers all eight methods. ETC and epsilon-greedy control exploration directly. UCB adds a confidence bonus. UCB-V and UCB-Tuned adapt to variance, and EUCBV also eliminates arms. UCB-Improved uses phased arm elimination. The paper labels PAC-UCB non-variance-aware, although its linked code uses empirical variance. We reproduce the shaded three: ETC, UCB and UCB-Tuned.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Strict ETC samples each arm m times, then fixes its choice. Exploration costs m times the gap, and a wrong commitment lasts to the end, so m must be chosen well. UCB adds a confidence bonus to each arm's average, large for rarely pulled arms. UCB-Tuned uses the arm's estimated variance plus an uncertainty correction, capped at one quarter. The code strip shows exactly that: the variance term, then the capped bonus. I checked these formulas against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uses Bernoulli rewards, one million steps and a hundred trials. Common initialisation, fixed seeds, all arm permutations and one pull per step reduce procedural bias. Value-at-Risk is an upper regret percentile, not an absolute worst case. Our reproduction randomises arm order and omits the risk and reward-variance analyses.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Scenario A compares 0.8 and 0.9, a gap of 0.1. B compares 0.895 with 0.9, and C compares 0.89 with 0.895, so both have a gap of 0.005. C has slightly higher variance than B. But Bernoulli variance depends on the mean, so these scenarios do not isolate variance independently of the means.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paper's reported mean regrets. The best ETC settings lead: 10.10, 150.66 and 170.53. That lead needs a suitable exploration budget: a poor choice costs 1,000 in A and 2,150 in C. Among default configurations, UCB-Tuned leads: 30.67, 212.21 and 226.09. These are results for the tested settings, not universal superiority.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UCB-Tuned improves on UCB in all three scenarios. It saves about 208 regret in A, and 915 and 946 in B and C. In ratio terms UCB's regret is 7.8 times larger in A and about 5 times in B and C, so the relative gain is greatest in A. The result is conditional; it does not show that variance-awareness only helps with tiny gaps.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contribution covers experiment execution and verification. This is our partial reproduction: three methods at the full horizon, a million steps and a hundred trials with base seed forty-two, and ETC in two forms. The code is in bandit_sim.py, run by run_experiment.py. verify_implementation.py runs twenty-six checks, including plain-loop comparisons and an approximate ETC probability check, and all pass. In results/comparison.csv, Scenario B's UCB-Tuned mean is 201.06 against the paper's 212.21. All six UCB and UCB-Tuned means are within six percent of the paper.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plot compares published means with our hundred-trial results; error bars show one standard error. UCB and UCB-Tuned stay within six percent of the paper. ETC-greedy reaches about 190 in B and 351 in C, with large variability, and a strict commit gives 638 and 491 over these hundred trials.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describes a fixed commitment, but its linked code recomputes the best empirical mean every round, as this excerpt from ETC.py shows. Our hundred-thousand-trial estimates for strict ETC are 654.61 and 676.32 in B and C, against 201.06 and 227.82 for UCB-Tuned. These are Monte Carlo estimates. At these budgets strict ETC costs more than UCB-Tuned, while greedy ETC is noisy, so no universal winner is established.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stationary binary rewards, only two arms and unequal tuning budgets; our reproduction covers three methods and selected regret metrics. Future work: more arms, delayed and contextual rewards, non-stationarity, and runtime and sample complexity.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paper's notebook, the variance test uses the variance of a hundred run totals, but uses 999,999 degrees of freedom. Under normality it should be 99, so those p-values cannot validate regret differences. From the paper's means, I checked savings of 207.50, 914.96 and 946.48 regret, with ratios 7.77, 5.31 and 5.19. Overall, UCB-Tuned improves on UCB everywhere tested, while ETC comparisons depend on tuning, definition and sampling uncertainty.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lists each member's contribution and where it appears in this recording.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The paper, the authors' code and our repository are listed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33A4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rtlCol="0"/>
          <a:lstStyle>
            <a:lvl1pPr marL="0" indent="0" algn="l">
              <a:buNone/>
              <a:defRPr lang="en-US" sz="1200" b="1" kern="0" spc="3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4" name="Text 0"/>
          <p:cNvSpPr/>
          <p:nvPr/>
        </p:nvSpPr>
        <p:spPr>
          <a:xfrm>
            <a:off x="548640" y="6446520"/>
            <a:ext cx="8229600" cy="228600"/>
          </a:xfrm>
          <a:prstGeom prst="rect">
            <a:avLst/>
          </a:prstGeom>
          <a:noFill/>
          <a:ln/>
        </p:spPr>
        <p:txBody>
          <a:bodyPr wrap="square" lIns="0" tIns="0" rIns="0" bIns="0" rtlCol="0" anchor="ctr"/>
          <a:lstStyle/>
          <a:p>
            <a:pPr marL="0" indent="0">
              <a:buNone/>
            </a:pPr>
            <a:r>
              <a:rPr lang="en-US" sz="1000" dirty="0">
                <a:solidFill>
                  <a:schemeClr val="accent2"/>
                </a:solidFill>
              </a:rPr>
              <a:t>DRL Assignment I   |   Fair Evaluation of Variance-Aware Bandit Algorithms   |   Group 6</a:t>
            </a:r>
            <a:endParaRPr lang="en-US" sz="10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33A4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arxiv.org/pdf/2510.27001" TargetMode="External"/><Relationship Id="rId4" Type="http://schemas.openxmlformats.org/officeDocument/2006/relationships/hyperlink" Target="https://tor-lattimore.com/downloads/book/book.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eelisee/bandit_playground/blob/ab0e657070c41089ed37d9795f297d067bd84903/src/algorithms/PAC_UCB.p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homes.di.unimi.it/~cesabian/Pubblicazioni/ml-02.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eelisee/bandit_playground/blob/ab0e657070c41089ed37d9795f297d067bd84903/src/calculations_for_dashboard/value_at_risk.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ithub.com/nithya3080/drl-assignment-1-group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eelisee/bandit_playground/blob/ab0e657070c41089ed37d9795f297d067bd84903/src/algorithms/ETC.py#L45-L57" TargetMode="Externa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github.com/eelisee/bandit_playground/blob/ab0e657070c41089ed37d9795f297d067bd84903/src/experiments-SKILL.ipynb"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arxiv.org/pdf/2510.27001" TargetMode="External"/><Relationship Id="rId4" Type="http://schemas.openxmlformats.org/officeDocument/2006/relationships/hyperlink" Target="https://github.com/eelisee/bandit_playground/tree/ab0e657070c41089ed37d9795f297d067bd84903" TargetMode="External"/><Relationship Id="rId5" Type="http://schemas.openxmlformats.org/officeDocument/2006/relationships/hyperlink" Target="https://github.com/nithya3080/drl-assignment-1-group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t"/>
          <a:lstStyle/>
          <a:p>
            <a:pPr marL="0" indent="0">
              <a:buNone/>
            </a:pPr>
            <a:r>
              <a:rPr lang="en-US" sz="1200" b="1" kern="0" spc="300" dirty="0">
                <a:solidFill>
                  <a:schemeClr val="accent4"/>
                </a:solidFill>
              </a:rPr>
              <a:t>BITS PILANI   |   DEEP REINFORCEMENT LEARNING   |   ASSIGNMENT I</a:t>
            </a:r>
            <a:endParaRPr lang="en-US" sz="1200" dirty="0"/>
          </a:p>
        </p:txBody>
      </p:sp>
      <p:sp>
        <p:nvSpPr>
          <p:cNvPr id="3" name="Text 1"/>
          <p:cNvSpPr txBox="1"/>
          <p:nvPr/>
        </p:nvSpPr>
        <p:spPr>
          <a:xfrm>
            <a:off x="640080" y="1051560"/>
            <a:ext cx="6400800" cy="201168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A Framework for Fair Evaluation of Variance-Aware Bandit Algorithms</a:t>
            </a:r>
            <a:endParaRPr lang="en-US" sz="3800" dirty="0"/>
          </a:p>
        </p:txBody>
      </p:sp>
      <p:sp>
        <p:nvSpPr>
          <p:cNvPr id="4" name="Text 2"/>
          <p:cNvSpPr txBox="1"/>
          <p:nvPr/>
        </p:nvSpPr>
        <p:spPr>
          <a:xfrm>
            <a:off x="640080" y="3246120"/>
            <a:ext cx="6400800" cy="1005840"/>
          </a:xfrm>
          <a:prstGeom prst="rect">
            <a:avLst/>
          </a:prstGeom>
          <a:noFill/>
          <a:ln/>
        </p:spPr>
        <p:txBody>
          <a:bodyPr wrap="square" lIns="0" tIns="0" rIns="0" bIns="0" rtlCol="0" anchor="t"/>
          <a:lstStyle/>
          <a:p>
            <a:pPr marL="0" indent="0">
              <a:spcAft>
                <a:spcPts val="400"/>
              </a:spcAft>
              <a:buNone/>
            </a:pPr>
            <a:r>
              <a:rPr lang="en-US" sz="1400" b="1" dirty="0">
                <a:solidFill>
                  <a:schemeClr val="bg1"/>
                </a:solidFill>
              </a:rPr>
              <a:t>Elise Wolf  ·  University of Mannheim</a:t>
            </a:r>
            <a:endParaRPr lang="en-US" sz="1400" dirty="0"/>
          </a:p>
          <a:p>
            <a:pPr marL="0" indent="0">
              <a:spcAft>
                <a:spcPts val="400"/>
              </a:spcAft>
              <a:buNone/>
            </a:pPr>
            <a:r>
              <a:rPr lang="en-US" sz="1400" dirty="0">
                <a:solidFill>
                  <a:schemeClr val="accent4"/>
                </a:solidFill>
              </a:rPr>
              <a:t>arXiv:2510.27001v1  ·  30 October 2025</a:t>
            </a:r>
            <a:endParaRPr lang="en-US" sz="1400" dirty="0"/>
          </a:p>
          <a:p>
            <a:pPr marL="0" indent="0">
              <a:spcAft>
                <a:spcPts val="400"/>
              </a:spcAft>
              <a:buNone/>
            </a:pPr>
            <a:r>
              <a:rPr lang="en-US" sz="1400" dirty="0">
                <a:solidFill>
                  <a:schemeClr val="accent4"/>
                </a:solidFill>
              </a:rPr>
              <a:t>Paper analysis: method, results, our reproduction, critique</a:t>
            </a:r>
            <a:endParaRPr lang="en-US" sz="1400" dirty="0"/>
          </a:p>
        </p:txBody>
      </p:sp>
      <p:sp>
        <p:nvSpPr>
          <p:cNvPr id="5" name="stat tile"/>
          <p:cNvSpPr/>
          <p:nvPr/>
        </p:nvSpPr>
        <p:spPr>
          <a:xfrm>
            <a:off x="640080" y="4846320"/>
            <a:ext cx="2011680" cy="1143000"/>
          </a:xfrm>
          <a:prstGeom prst="roundRect">
            <a:avLst>
              <a:gd name="adj" fmla="val 5600"/>
            </a:avLst>
          </a:prstGeom>
          <a:solidFill>
            <a:schemeClr val="tx2"/>
          </a:solidFill>
          <a:ln/>
        </p:spPr>
        <p:txBody>
          <a:bodyPr/>
          <a:lstStyle/>
          <a:p>
            <a:endParaRPr lang="en-US"/>
          </a:p>
        </p:txBody>
      </p:sp>
      <p:sp>
        <p:nvSpPr>
          <p:cNvPr id="6" name="Text 4"/>
          <p:cNvSpPr txBox="1"/>
          <p:nvPr/>
        </p:nvSpPr>
        <p:spPr>
          <a:xfrm>
            <a:off x="822960" y="4956048"/>
            <a:ext cx="1737360" cy="54864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8</a:t>
            </a:r>
            <a:endParaRPr lang="en-US" sz="2600" dirty="0"/>
          </a:p>
        </p:txBody>
      </p:sp>
      <p:sp>
        <p:nvSpPr>
          <p:cNvPr id="7" name="Text 5"/>
          <p:cNvSpPr txBox="1"/>
          <p:nvPr/>
        </p:nvSpPr>
        <p:spPr>
          <a:xfrm>
            <a:off x="822960" y="5532120"/>
            <a:ext cx="1737360" cy="320040"/>
          </a:xfrm>
          <a:prstGeom prst="rect">
            <a:avLst/>
          </a:prstGeom>
          <a:noFill/>
          <a:ln/>
        </p:spPr>
        <p:txBody>
          <a:bodyPr wrap="square" lIns="0" tIns="0" rIns="0" bIns="0" rtlCol="0" anchor="t"/>
          <a:lstStyle/>
          <a:p>
            <a:pPr marL="0" indent="0">
              <a:buNone/>
            </a:pPr>
            <a:r>
              <a:rPr lang="en-US" sz="1200" dirty="0">
                <a:solidFill>
                  <a:schemeClr val="accent5"/>
                </a:solidFill>
              </a:rPr>
              <a:t>algorithms compared</a:t>
            </a:r>
            <a:endParaRPr lang="en-US" sz="1200" dirty="0"/>
          </a:p>
        </p:txBody>
      </p:sp>
      <p:sp>
        <p:nvSpPr>
          <p:cNvPr id="8" name="stat tile"/>
          <p:cNvSpPr/>
          <p:nvPr/>
        </p:nvSpPr>
        <p:spPr>
          <a:xfrm>
            <a:off x="2788920" y="4846320"/>
            <a:ext cx="2011680" cy="1143000"/>
          </a:xfrm>
          <a:prstGeom prst="roundRect">
            <a:avLst>
              <a:gd name="adj" fmla="val 5600"/>
            </a:avLst>
          </a:prstGeom>
          <a:solidFill>
            <a:schemeClr val="tx2"/>
          </a:solidFill>
          <a:ln/>
        </p:spPr>
        <p:txBody>
          <a:bodyPr/>
          <a:lstStyle/>
          <a:p>
            <a:endParaRPr lang="en-US"/>
          </a:p>
        </p:txBody>
      </p:sp>
      <p:sp>
        <p:nvSpPr>
          <p:cNvPr id="9" name="Text 7"/>
          <p:cNvSpPr txBox="1"/>
          <p:nvPr/>
        </p:nvSpPr>
        <p:spPr>
          <a:xfrm>
            <a:off x="2971800" y="4956048"/>
            <a:ext cx="1737360" cy="54864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0" name="Text 8"/>
          <p:cNvSpPr txBox="1"/>
          <p:nvPr/>
        </p:nvSpPr>
        <p:spPr>
          <a:xfrm>
            <a:off x="2971800" y="5532120"/>
            <a:ext cx="1737360" cy="320040"/>
          </a:xfrm>
          <a:prstGeom prst="rect">
            <a:avLst/>
          </a:prstGeom>
          <a:noFill/>
          <a:ln/>
        </p:spPr>
        <p:txBody>
          <a:bodyPr wrap="square" lIns="0" tIns="0" rIns="0" bIns="0" rtlCol="0" anchor="t"/>
          <a:lstStyle/>
          <a:p>
            <a:pPr marL="0" indent="0">
              <a:buNone/>
            </a:pPr>
            <a:r>
              <a:rPr lang="en-US" sz="1200" dirty="0">
                <a:solidFill>
                  <a:schemeClr val="accent5"/>
                </a:solidFill>
              </a:rPr>
              <a:t>scenarios A, B, C</a:t>
            </a:r>
            <a:endParaRPr lang="en-US" sz="1200" dirty="0"/>
          </a:p>
        </p:txBody>
      </p:sp>
      <p:sp>
        <p:nvSpPr>
          <p:cNvPr id="11" name="stat tile"/>
          <p:cNvSpPr/>
          <p:nvPr/>
        </p:nvSpPr>
        <p:spPr>
          <a:xfrm>
            <a:off x="4937760" y="4846320"/>
            <a:ext cx="2011680" cy="1143000"/>
          </a:xfrm>
          <a:prstGeom prst="roundRect">
            <a:avLst>
              <a:gd name="adj" fmla="val 5600"/>
            </a:avLst>
          </a:prstGeom>
          <a:solidFill>
            <a:schemeClr val="tx2"/>
          </a:solidFill>
          <a:ln/>
        </p:spPr>
        <p:txBody>
          <a:bodyPr/>
          <a:lstStyle/>
          <a:p>
            <a:endParaRPr lang="en-US"/>
          </a:p>
        </p:txBody>
      </p:sp>
      <p:sp>
        <p:nvSpPr>
          <p:cNvPr id="12" name="Text 10"/>
          <p:cNvSpPr txBox="1"/>
          <p:nvPr/>
        </p:nvSpPr>
        <p:spPr>
          <a:xfrm>
            <a:off x="5120640" y="4956048"/>
            <a:ext cx="1737360" cy="54864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10⁶ × 100</a:t>
            </a:r>
            <a:endParaRPr lang="en-US" sz="2600" dirty="0"/>
          </a:p>
        </p:txBody>
      </p:sp>
      <p:sp>
        <p:nvSpPr>
          <p:cNvPr id="13" name="Text 11"/>
          <p:cNvSpPr txBox="1"/>
          <p:nvPr/>
        </p:nvSpPr>
        <p:spPr>
          <a:xfrm>
            <a:off x="5120640" y="5532120"/>
            <a:ext cx="1737360" cy="320040"/>
          </a:xfrm>
          <a:prstGeom prst="rect">
            <a:avLst/>
          </a:prstGeom>
          <a:noFill/>
          <a:ln/>
        </p:spPr>
        <p:txBody>
          <a:bodyPr wrap="square" lIns="0" tIns="0" rIns="0" bIns="0" rtlCol="0" anchor="t"/>
          <a:lstStyle/>
          <a:p>
            <a:pPr marL="0" indent="0">
              <a:buNone/>
            </a:pPr>
            <a:r>
              <a:rPr lang="en-US" sz="1200" dirty="0">
                <a:solidFill>
                  <a:schemeClr val="accent5"/>
                </a:solidFill>
              </a:rPr>
              <a:t>steps × trials each</a:t>
            </a:r>
            <a:endParaRPr lang="en-US" sz="1200" dirty="0"/>
          </a:p>
        </p:txBody>
      </p:sp>
      <p:sp>
        <p:nvSpPr>
          <p:cNvPr id="14" name="group panel"/>
          <p:cNvSpPr/>
          <p:nvPr/>
        </p:nvSpPr>
        <p:spPr>
          <a:xfrm>
            <a:off x="7589520" y="777240"/>
            <a:ext cx="4023360" cy="5212080"/>
          </a:xfrm>
          <a:prstGeom prst="roundRect">
            <a:avLst>
              <a:gd name="adj" fmla="val 2045"/>
            </a:avLst>
          </a:prstGeom>
          <a:solidFill>
            <a:schemeClr val="bg2"/>
          </a:solidFill>
          <a:ln/>
        </p:spPr>
        <p:txBody>
          <a:bodyPr/>
          <a:lstStyle/>
          <a:p>
            <a:endParaRPr lang="en-US"/>
          </a:p>
        </p:txBody>
      </p:sp>
      <p:sp>
        <p:nvSpPr>
          <p:cNvPr id="15" name="Text 13"/>
          <p:cNvSpPr txBox="1"/>
          <p:nvPr/>
        </p:nvSpPr>
        <p:spPr>
          <a:xfrm>
            <a:off x="7909560" y="1051560"/>
            <a:ext cx="338328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GROUP</a:t>
            </a:r>
            <a:endParaRPr lang="en-US" sz="1200" dirty="0"/>
          </a:p>
        </p:txBody>
      </p:sp>
      <p:sp>
        <p:nvSpPr>
          <p:cNvPr id="16" name="Text 14"/>
          <p:cNvSpPr txBox="1"/>
          <p:nvPr/>
        </p:nvSpPr>
        <p:spPr>
          <a:xfrm>
            <a:off x="7909560" y="1371600"/>
            <a:ext cx="347472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Group Number:  6</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909560" y="2103120"/>
          <a:ext cx="3429000" cy="2834640"/>
        </p:xfrm>
        <a:graphic>
          <a:graphicData uri="http://schemas.openxmlformats.org/drawingml/2006/table">
            <a:tbl>
              <a:tblPr/>
              <a:tblGrid>
                <a:gridCol w="19202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566928">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Member</a:t>
                      </a:r>
                      <a:endParaRPr lang="en-US" sz="12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BITS ID</a:t>
                      </a:r>
                      <a:endParaRPr lang="en-US" sz="12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Ashok Kumar K S</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2025AG05302</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Nithyasree A</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2025AG05607</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Nallajala Saibhargav</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2025AG05608</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Arjun Balaji</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2025AG05609</a:t>
                      </a:r>
                      <a:endParaRPr lang="en-US" sz="1400" dirty="0">
                        <a:latin typeface="Calibri" charset="0"/>
                        <a:ea typeface="Calibri" charset="0"/>
                        <a:cs typeface="Calibri"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MOTIVATION &amp; OBJECTIVE</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Bandit algorithms are rarely compared on equal terms</a:t>
            </a:r>
            <a:endParaRPr lang="en-US" sz="2800" dirty="0"/>
          </a:p>
        </p:txBody>
      </p:sp>
      <p:sp>
        <p:nvSpPr>
          <p:cNvPr id="4" name="Text 2"/>
          <p:cNvSpPr txBox="1"/>
          <p:nvPr/>
        </p:nvSpPr>
        <p:spPr>
          <a:xfrm>
            <a:off x="548640" y="1645920"/>
            <a:ext cx="603504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The gap in the literature</a:t>
            </a:r>
            <a:endParaRPr lang="en-US" sz="1600" dirty="0"/>
          </a:p>
        </p:txBody>
      </p:sp>
      <p:sp>
        <p:nvSpPr>
          <p:cNvPr id="5" name="card"/>
          <p:cNvSpPr/>
          <p:nvPr/>
        </p:nvSpPr>
        <p:spPr>
          <a:xfrm>
            <a:off x="548640" y="2057400"/>
            <a:ext cx="6309360" cy="1143000"/>
          </a:xfrm>
          <a:prstGeom prst="roundRect">
            <a:avLst>
              <a:gd name="adj" fmla="val 560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6" name="badge"/>
          <p:cNvSpPr/>
          <p:nvPr/>
        </p:nvSpPr>
        <p:spPr>
          <a:xfrm>
            <a:off x="731520" y="2240280"/>
            <a:ext cx="347472" cy="347472"/>
          </a:xfrm>
          <a:prstGeom prst="ellipse">
            <a:avLst/>
          </a:prstGeom>
          <a:solidFill>
            <a:schemeClr val="tx2"/>
          </a:solidFill>
          <a:ln/>
        </p:spPr>
        <p:txBody>
          <a:bodyPr/>
          <a:lstStyle/>
          <a:p>
            <a:endParaRPr/>
          </a:p>
        </p:txBody>
      </p:sp>
      <p:sp>
        <p:nvSpPr>
          <p:cNvPr id="7" name="Text 5"/>
          <p:cNvSpPr txBox="1"/>
          <p:nvPr/>
        </p:nvSpPr>
        <p:spPr>
          <a:xfrm>
            <a:off x="731520" y="224028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1234440" y="2212848"/>
            <a:ext cx="5440680" cy="274320"/>
          </a:xfrm>
          <a:prstGeom prst="rect">
            <a:avLst/>
          </a:prstGeom>
          <a:noFill/>
          <a:ln/>
        </p:spPr>
        <p:txBody>
          <a:bodyPr wrap="square" lIns="0" tIns="0" rIns="0" bIns="0" rtlCol="0" anchor="t"/>
          <a:lstStyle/>
          <a:p>
            <a:pPr marL="0" indent="0">
              <a:buNone/>
            </a:pPr>
            <a:r>
              <a:rPr lang="en-US" sz="1500" b="1" dirty="0">
                <a:solidFill>
                  <a:schemeClr val="tx1"/>
                </a:solidFill>
              </a:rPr>
              <a:t>Exploration costs reward</a:t>
            </a:r>
            <a:endParaRPr lang="en-US" sz="1500" dirty="0"/>
          </a:p>
        </p:txBody>
      </p:sp>
      <p:sp>
        <p:nvSpPr>
          <p:cNvPr id="9" name="Text 7"/>
          <p:cNvSpPr txBox="1"/>
          <p:nvPr/>
        </p:nvSpPr>
        <p:spPr>
          <a:xfrm>
            <a:off x="1234440" y="2496312"/>
            <a:ext cx="5440680" cy="685800"/>
          </a:xfrm>
          <a:prstGeom prst="rect">
            <a:avLst/>
          </a:prstGeom>
          <a:noFill/>
          <a:ln/>
        </p:spPr>
        <p:txBody>
          <a:bodyPr wrap="square" lIns="0" tIns="0" rIns="0" bIns="0" rtlCol="0" anchor="t"/>
          <a:lstStyle/>
          <a:p>
            <a:pPr marL="0" indent="0">
              <a:buNone/>
            </a:pPr>
            <a:r>
              <a:rPr lang="en-US" sz="1200" dirty="0">
                <a:solidFill>
                  <a:schemeClr val="tx1"/>
                </a:solidFill>
              </a:rPr>
              <a:t>A bandit learner must keep trying uncertain options (explore) while collecting from the best one it knows (exploit). A worse-mean arm incurs expected lost reward, called regret.</a:t>
            </a:r>
            <a:endParaRPr lang="en-US" sz="1200" dirty="0"/>
          </a:p>
        </p:txBody>
      </p:sp>
      <p:sp>
        <p:nvSpPr>
          <p:cNvPr id="10" name="card"/>
          <p:cNvSpPr/>
          <p:nvPr/>
        </p:nvSpPr>
        <p:spPr>
          <a:xfrm>
            <a:off x="548640" y="3337560"/>
            <a:ext cx="6309360" cy="1143000"/>
          </a:xfrm>
          <a:prstGeom prst="roundRect">
            <a:avLst>
              <a:gd name="adj" fmla="val 560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1" name="badge"/>
          <p:cNvSpPr/>
          <p:nvPr/>
        </p:nvSpPr>
        <p:spPr>
          <a:xfrm>
            <a:off x="731520" y="3520440"/>
            <a:ext cx="347472" cy="347472"/>
          </a:xfrm>
          <a:prstGeom prst="ellipse">
            <a:avLst/>
          </a:prstGeom>
          <a:solidFill>
            <a:schemeClr val="tx2"/>
          </a:solidFill>
          <a:ln/>
        </p:spPr>
        <p:txBody>
          <a:bodyPr/>
          <a:lstStyle/>
          <a:p>
            <a:endParaRPr/>
          </a:p>
        </p:txBody>
      </p:sp>
      <p:sp>
        <p:nvSpPr>
          <p:cNvPr id="12" name="Text 10"/>
          <p:cNvSpPr txBox="1"/>
          <p:nvPr/>
        </p:nvSpPr>
        <p:spPr>
          <a:xfrm>
            <a:off x="731520" y="352044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1234440" y="3493008"/>
            <a:ext cx="5440680" cy="274320"/>
          </a:xfrm>
          <a:prstGeom prst="rect">
            <a:avLst/>
          </a:prstGeom>
          <a:noFill/>
          <a:ln/>
        </p:spPr>
        <p:txBody>
          <a:bodyPr wrap="square" lIns="0" tIns="0" rIns="0" bIns="0" rtlCol="0" anchor="t"/>
          <a:lstStyle/>
          <a:p>
            <a:pPr marL="0" indent="0">
              <a:buNone/>
            </a:pPr>
            <a:r>
              <a:rPr lang="en-US" sz="1500" b="1" dirty="0">
                <a:solidFill>
                  <a:schemeClr val="tx1"/>
                </a:solidFill>
              </a:rPr>
              <a:t>Existing comparisons are narrow</a:t>
            </a:r>
            <a:endParaRPr lang="en-US" sz="1500" dirty="0"/>
          </a:p>
        </p:txBody>
      </p:sp>
      <p:sp>
        <p:nvSpPr>
          <p:cNvPr id="14" name="Text 12"/>
          <p:cNvSpPr txBox="1"/>
          <p:nvPr/>
        </p:nvSpPr>
        <p:spPr>
          <a:xfrm>
            <a:off x="1234440" y="3776472"/>
            <a:ext cx="5440680" cy="685800"/>
          </a:xfrm>
          <a:prstGeom prst="rect">
            <a:avLst/>
          </a:prstGeom>
          <a:noFill/>
          <a:ln/>
        </p:spPr>
        <p:txBody>
          <a:bodyPr wrap="square" lIns="0" tIns="0" rIns="0" bIns="0" rtlCol="0" anchor="t"/>
          <a:lstStyle/>
          <a:p>
            <a:pPr marL="0" indent="0">
              <a:buNone/>
            </a:pPr>
            <a:r>
              <a:rPr lang="en-US" sz="1200" dirty="0">
                <a:solidFill>
                  <a:schemeClr val="tx1"/>
                </a:solidFill>
              </a:rPr>
              <a:t>Earlier studies use narrower algorithm sets or fixed scenarios. The author motivates a broader, controlled comparison with reproducible outputs; see paper §1.</a:t>
            </a:r>
            <a:endParaRPr lang="en-US" sz="1200" dirty="0"/>
          </a:p>
        </p:txBody>
      </p:sp>
      <p:sp>
        <p:nvSpPr>
          <p:cNvPr id="15" name="card"/>
          <p:cNvSpPr/>
          <p:nvPr/>
        </p:nvSpPr>
        <p:spPr>
          <a:xfrm>
            <a:off x="548640" y="4617720"/>
            <a:ext cx="6309360" cy="1143000"/>
          </a:xfrm>
          <a:prstGeom prst="roundRect">
            <a:avLst>
              <a:gd name="adj" fmla="val 560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6" name="badge"/>
          <p:cNvSpPr/>
          <p:nvPr/>
        </p:nvSpPr>
        <p:spPr>
          <a:xfrm>
            <a:off x="731520" y="4800600"/>
            <a:ext cx="347472" cy="347472"/>
          </a:xfrm>
          <a:prstGeom prst="ellipse">
            <a:avLst/>
          </a:prstGeom>
          <a:solidFill>
            <a:schemeClr val="tx2"/>
          </a:solidFill>
          <a:ln/>
        </p:spPr>
        <p:txBody>
          <a:bodyPr/>
          <a:lstStyle/>
          <a:p>
            <a:endParaRPr/>
          </a:p>
        </p:txBody>
      </p:sp>
      <p:sp>
        <p:nvSpPr>
          <p:cNvPr id="17" name="Text 15"/>
          <p:cNvSpPr txBox="1"/>
          <p:nvPr/>
        </p:nvSpPr>
        <p:spPr>
          <a:xfrm>
            <a:off x="731520" y="480060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1234440" y="4773168"/>
            <a:ext cx="5440680" cy="274320"/>
          </a:xfrm>
          <a:prstGeom prst="rect">
            <a:avLst/>
          </a:prstGeom>
          <a:noFill/>
          <a:ln/>
        </p:spPr>
        <p:txBody>
          <a:bodyPr wrap="square" lIns="0" tIns="0" rIns="0" bIns="0" rtlCol="0" anchor="t"/>
          <a:lstStyle/>
          <a:p>
            <a:pPr marL="0" indent="0">
              <a:buNone/>
            </a:pPr>
            <a:r>
              <a:rPr lang="en-US" sz="1500" b="1" dirty="0">
                <a:solidFill>
                  <a:schemeClr val="tx1"/>
                </a:solidFill>
              </a:rPr>
              <a:t>No reproducible, systematic study</a:t>
            </a:r>
            <a:endParaRPr lang="en-US" sz="1500" dirty="0"/>
          </a:p>
        </p:txBody>
      </p:sp>
      <p:sp>
        <p:nvSpPr>
          <p:cNvPr id="19" name="Text 17"/>
          <p:cNvSpPr txBox="1"/>
          <p:nvPr/>
        </p:nvSpPr>
        <p:spPr>
          <a:xfrm>
            <a:off x="1234440" y="5056632"/>
            <a:ext cx="5440680" cy="685800"/>
          </a:xfrm>
          <a:prstGeom prst="rect">
            <a:avLst/>
          </a:prstGeom>
          <a:noFill/>
          <a:ln/>
        </p:spPr>
        <p:txBody>
          <a:bodyPr wrap="square" lIns="0" tIns="0" rIns="0" bIns="0" rtlCol="0" anchor="t"/>
          <a:lstStyle/>
          <a:p>
            <a:pPr marL="0" indent="0">
              <a:buNone/>
            </a:pPr>
            <a:r>
              <a:rPr lang="en-US" sz="1200" dirty="0">
                <a:solidFill>
                  <a:schemeClr val="tx1"/>
                </a:solidFill>
              </a:rPr>
              <a:t>The author identifies a gap in systematic, reproducible comparisons across controlled scenarios; this is the paper’s motivation, rather than an exhaustive literature claim.</a:t>
            </a:r>
            <a:endParaRPr lang="en-US" sz="1200" dirty="0"/>
          </a:p>
        </p:txBody>
      </p:sp>
      <p:sp>
        <p:nvSpPr>
          <p:cNvPr id="20" name="objective card"/>
          <p:cNvSpPr/>
          <p:nvPr/>
        </p:nvSpPr>
        <p:spPr>
          <a:xfrm>
            <a:off x="7223760" y="1645920"/>
            <a:ext cx="4419295" cy="1554480"/>
          </a:xfrm>
          <a:prstGeom prst="roundRect">
            <a:avLst>
              <a:gd name="adj" fmla="val 4118"/>
            </a:avLst>
          </a:prstGeom>
          <a:solidFill>
            <a:schemeClr val="tx2"/>
          </a:solidFill>
          <a:ln/>
        </p:spPr>
        <p:txBody>
          <a:bodyPr/>
          <a:lstStyle/>
          <a:p>
            <a:endParaRPr/>
          </a:p>
        </p:txBody>
      </p:sp>
      <p:sp>
        <p:nvSpPr>
          <p:cNvPr id="21" name="Text 19"/>
          <p:cNvSpPr txBox="1"/>
          <p:nvPr/>
        </p:nvSpPr>
        <p:spPr>
          <a:xfrm>
            <a:off x="7452360" y="1783080"/>
            <a:ext cx="2743200" cy="228600"/>
          </a:xfrm>
          <a:prstGeom prst="rect">
            <a:avLst/>
          </a:prstGeom>
          <a:noFill/>
          <a:ln/>
        </p:spPr>
        <p:txBody>
          <a:bodyPr wrap="square" lIns="0" tIns="0" rIns="0" bIns="0" rtlCol="0" anchor="t"/>
          <a:lstStyle/>
          <a:p>
            <a:pPr marL="0" indent="0">
              <a:buNone/>
            </a:pPr>
            <a:r>
              <a:rPr lang="en-US" sz="1100" b="1" kern="0" spc="300" dirty="0">
                <a:solidFill>
                  <a:schemeClr val="accent4"/>
                </a:solidFill>
              </a:rPr>
              <a:t>OBJECTIVE</a:t>
            </a:r>
            <a:endParaRPr lang="en-US" sz="1100" dirty="0"/>
          </a:p>
        </p:txBody>
      </p:sp>
      <p:sp>
        <p:nvSpPr>
          <p:cNvPr id="22" name="Text 20"/>
          <p:cNvSpPr txBox="1"/>
          <p:nvPr/>
        </p:nvSpPr>
        <p:spPr>
          <a:xfrm>
            <a:off x="7452360" y="2057400"/>
            <a:ext cx="3962095" cy="1143000"/>
          </a:xfrm>
          <a:prstGeom prst="rect">
            <a:avLst/>
          </a:prstGeom>
          <a:noFill/>
          <a:ln/>
        </p:spPr>
        <p:txBody>
          <a:bodyPr wrap="square" lIns="0" tIns="0" rIns="0" bIns="0" rtlCol="0" anchor="t"/>
          <a:lstStyle/>
          <a:p>
            <a:pPr marL="0" indent="0">
              <a:buNone/>
            </a:pPr>
            <a:r>
              <a:rPr lang="en-US" sz="1400" dirty="0">
                <a:solidFill>
                  <a:schemeClr val="bg1"/>
                </a:solidFill>
              </a:rPr>
              <a:t>Provide a standard, reproducible evaluation of eight classical and variance-aware bandit algorithms (the Bandit Playground codebase) and identify when variance-awareness pays off.</a:t>
            </a:r>
            <a:endParaRPr lang="en-US" sz="1400" dirty="0"/>
          </a:p>
        </p:txBody>
      </p:sp>
      <p:sp>
        <p:nvSpPr>
          <p:cNvPr id="23" name="card"/>
          <p:cNvSpPr/>
          <p:nvPr/>
        </p:nvSpPr>
        <p:spPr>
          <a:xfrm>
            <a:off x="7223760" y="3337560"/>
            <a:ext cx="4419295" cy="1143000"/>
          </a:xfrm>
          <a:prstGeom prst="roundRect">
            <a:avLst>
              <a:gd name="adj" fmla="val 560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4" name="Text 22"/>
          <p:cNvSpPr txBox="1"/>
          <p:nvPr/>
        </p:nvSpPr>
        <p:spPr>
          <a:xfrm>
            <a:off x="7406640" y="3493008"/>
            <a:ext cx="731520" cy="274320"/>
          </a:xfrm>
          <a:prstGeom prst="rect">
            <a:avLst/>
          </a:prstGeom>
          <a:noFill/>
          <a:ln/>
        </p:spPr>
        <p:txBody>
          <a:bodyPr wrap="square" lIns="0" tIns="0" rIns="0" bIns="0" rtlCol="0" anchor="t"/>
          <a:lstStyle/>
          <a:p>
            <a:pPr marL="0" indent="0">
              <a:buNone/>
            </a:pPr>
            <a:r>
              <a:rPr lang="en-US" sz="1600" b="1" dirty="0">
                <a:solidFill>
                  <a:schemeClr val="accent1"/>
                </a:solidFill>
                <a:latin typeface="Cambria" pitchFamily="34" charset="0"/>
                <a:ea typeface="Cambria" pitchFamily="34" charset="-122"/>
                <a:cs typeface="Cambria" pitchFamily="34" charset="-120"/>
              </a:rPr>
              <a:t>RQ1</a:t>
            </a:r>
            <a:endParaRPr lang="en-US" sz="1600" dirty="0"/>
          </a:p>
        </p:txBody>
      </p:sp>
      <p:sp>
        <p:nvSpPr>
          <p:cNvPr id="25" name="Text 23"/>
          <p:cNvSpPr txBox="1"/>
          <p:nvPr/>
        </p:nvSpPr>
        <p:spPr>
          <a:xfrm>
            <a:off x="7406640" y="3776472"/>
            <a:ext cx="4053535" cy="685800"/>
          </a:xfrm>
          <a:prstGeom prst="rect">
            <a:avLst/>
          </a:prstGeom>
          <a:noFill/>
          <a:ln/>
        </p:spPr>
        <p:txBody>
          <a:bodyPr wrap="square" lIns="0" tIns="0" rIns="0" bIns="0" rtlCol="0" anchor="t"/>
          <a:lstStyle/>
          <a:p>
            <a:pPr marL="0" indent="0">
              <a:buNone/>
            </a:pPr>
            <a:r>
              <a:rPr lang="en-US" sz="1200" dirty="0">
                <a:solidFill>
                  <a:schemeClr val="tx1"/>
                </a:solidFill>
              </a:rPr>
              <a:t>How can performance differences between bandit algorithms be reliably detected and quantified in a standardised framework?</a:t>
            </a:r>
            <a:endParaRPr lang="en-US" sz="1200" dirty="0"/>
          </a:p>
        </p:txBody>
      </p:sp>
      <p:sp>
        <p:nvSpPr>
          <p:cNvPr id="26" name="card"/>
          <p:cNvSpPr/>
          <p:nvPr/>
        </p:nvSpPr>
        <p:spPr>
          <a:xfrm>
            <a:off x="7223760" y="4617720"/>
            <a:ext cx="4419295" cy="1143000"/>
          </a:xfrm>
          <a:prstGeom prst="roundRect">
            <a:avLst>
              <a:gd name="adj" fmla="val 560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7" name="Text 25"/>
          <p:cNvSpPr txBox="1"/>
          <p:nvPr/>
        </p:nvSpPr>
        <p:spPr>
          <a:xfrm>
            <a:off x="7406640" y="4773168"/>
            <a:ext cx="731520" cy="274320"/>
          </a:xfrm>
          <a:prstGeom prst="rect">
            <a:avLst/>
          </a:prstGeom>
          <a:noFill/>
          <a:ln/>
        </p:spPr>
        <p:txBody>
          <a:bodyPr wrap="square" lIns="0" tIns="0" rIns="0" bIns="0" rtlCol="0" anchor="t"/>
          <a:lstStyle/>
          <a:p>
            <a:pPr marL="0" indent="0">
              <a:buNone/>
            </a:pPr>
            <a:r>
              <a:rPr lang="en-US" sz="1600" b="1" dirty="0">
                <a:solidFill>
                  <a:schemeClr val="accent1"/>
                </a:solidFill>
                <a:latin typeface="Cambria" pitchFamily="34" charset="0"/>
                <a:ea typeface="Cambria" pitchFamily="34" charset="-122"/>
                <a:cs typeface="Cambria" pitchFamily="34" charset="-120"/>
              </a:rPr>
              <a:t>RQ2</a:t>
            </a:r>
            <a:endParaRPr lang="en-US" sz="1600" dirty="0"/>
          </a:p>
        </p:txBody>
      </p:sp>
      <p:sp>
        <p:nvSpPr>
          <p:cNvPr id="28" name="Text 26"/>
          <p:cNvSpPr txBox="1"/>
          <p:nvPr/>
        </p:nvSpPr>
        <p:spPr>
          <a:xfrm>
            <a:off x="7406640" y="5056632"/>
            <a:ext cx="4053535" cy="685800"/>
          </a:xfrm>
          <a:prstGeom prst="rect">
            <a:avLst/>
          </a:prstGeom>
          <a:noFill/>
          <a:ln/>
        </p:spPr>
        <p:txBody>
          <a:bodyPr wrap="square" lIns="0" tIns="0" rIns="0" bIns="0" rtlCol="0" anchor="t"/>
          <a:lstStyle/>
          <a:p>
            <a:pPr marL="0" indent="0">
              <a:buNone/>
            </a:pPr>
            <a:r>
              <a:rPr lang="en-US" sz="1200" dirty="0">
                <a:solidFill>
                  <a:schemeClr val="tx1"/>
                </a:solidFill>
              </a:rPr>
              <a:t>Under which conditions do variance-aware algorithms outperform classical and non-variance-aware ones?</a:t>
            </a:r>
            <a:endParaRPr lang="en-US" sz="1200" dirty="0"/>
          </a:p>
        </p:txBody>
      </p:sp>
      <p:sp>
        <p:nvSpPr>
          <p:cNvPr id="29" name="contribution strip"/>
          <p:cNvSpPr/>
          <p:nvPr/>
        </p:nvSpPr>
        <p:spPr>
          <a:xfrm>
            <a:off x="548640" y="5943600"/>
            <a:ext cx="11094415" cy="384048"/>
          </a:xfrm>
          <a:prstGeom prst="roundRect">
            <a:avLst>
              <a:gd name="adj" fmla="val 16667"/>
            </a:avLst>
          </a:prstGeom>
          <a:solidFill>
            <a:schemeClr val="accent6"/>
          </a:solidFill>
          <a:ln/>
        </p:spPr>
        <p:txBody>
          <a:bodyPr/>
          <a:lstStyle/>
          <a:p>
            <a:endParaRPr/>
          </a:p>
        </p:txBody>
      </p:sp>
      <p:sp>
        <p:nvSpPr>
          <p:cNvPr id="30" name="Text 28"/>
          <p:cNvSpPr txBox="1"/>
          <p:nvPr/>
        </p:nvSpPr>
        <p:spPr>
          <a:xfrm>
            <a:off x="731520" y="5943600"/>
            <a:ext cx="10728655" cy="384048"/>
          </a:xfrm>
          <a:prstGeom prst="rect">
            <a:avLst/>
          </a:prstGeom>
          <a:noFill/>
          <a:ln/>
        </p:spPr>
        <p:txBody>
          <a:bodyPr wrap="square" lIns="0" tIns="0" rIns="0" bIns="0" rtlCol="0" anchor="ctr"/>
          <a:lstStyle/>
          <a:p>
            <a:pPr marL="0" indent="0">
              <a:buNone/>
            </a:pPr>
            <a:r>
              <a:rPr lang="en-US" sz="1250" b="1" dirty="0">
                <a:solidFill>
                  <a:schemeClr val="tx1"/>
                </a:solidFill>
              </a:rPr>
              <a:t>Contributions:  </a:t>
            </a:r>
            <a:r>
              <a:rPr lang="en-US" sz="1250" dirty="0">
                <a:solidFill>
                  <a:schemeClr val="tx1"/>
                </a:solidFill>
              </a:rPr>
              <a:t>(1) a structured, extensible implementation of 8 algorithms with six standard visualisations;  (2) evidence on when variance-aware methods win.</a:t>
            </a:r>
            <a:endParaRPr lang="en-US" sz="1250" dirty="0"/>
          </a:p>
        </p:txBody>
      </p:sp>
      <p:sp>
        <p:nvSpPr>
          <p:cNvPr id="31"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THE BANDIT PROBLEM</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Pseudo-regret measures the cost of choosing suboptimal arms</a:t>
            </a:r>
            <a:endParaRPr lang="en-US" sz="2800" dirty="0"/>
          </a:p>
        </p:txBody>
      </p:sp>
      <p:sp>
        <p:nvSpPr>
          <p:cNvPr id="4" name="Text 2"/>
          <p:cNvSpPr txBox="1"/>
          <p:nvPr/>
        </p:nvSpPr>
        <p:spPr>
          <a:xfrm>
            <a:off x="548640" y="1645920"/>
            <a:ext cx="530352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Notation (paper §2.1)</a:t>
            </a:r>
            <a:endParaRPr lang="en-US" sz="1600" dirty="0"/>
          </a:p>
        </p:txBody>
      </p:sp>
      <p:sp>
        <p:nvSpPr>
          <p:cNvPr id="5" name="card"/>
          <p:cNvSpPr/>
          <p:nvPr/>
        </p:nvSpPr>
        <p:spPr>
          <a:xfrm>
            <a:off x="548640" y="2057400"/>
            <a:ext cx="5394960" cy="896112"/>
          </a:xfrm>
          <a:prstGeom prst="roundRect">
            <a:avLst>
              <a:gd name="adj" fmla="val 714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6" name="Text 4"/>
          <p:cNvSpPr txBox="1"/>
          <p:nvPr/>
        </p:nvSpPr>
        <p:spPr>
          <a:xfrm>
            <a:off x="731520" y="2148840"/>
            <a:ext cx="5029200" cy="256032"/>
          </a:xfrm>
          <a:prstGeom prst="rect">
            <a:avLst/>
          </a:prstGeom>
          <a:noFill/>
          <a:ln/>
        </p:spPr>
        <p:txBody>
          <a:bodyPr wrap="square" lIns="0" tIns="0" rIns="0" bIns="0" rtlCol="0" anchor="t"/>
          <a:lstStyle/>
          <a:p>
            <a:pPr marL="0" indent="0">
              <a:buNone/>
            </a:pPr>
            <a:r>
              <a:rPr lang="en-US" sz="1350" b="1" dirty="0">
                <a:solidFill>
                  <a:schemeClr val="tx2"/>
                </a:solidFill>
              </a:rPr>
              <a:t>Arms and rewards</a:t>
            </a:r>
            <a:endParaRPr lang="en-US" sz="1350" dirty="0"/>
          </a:p>
        </p:txBody>
      </p:sp>
      <p:sp>
        <p:nvSpPr>
          <p:cNvPr id="7" name="Text 5"/>
          <p:cNvSpPr txBox="1"/>
          <p:nvPr/>
        </p:nvSpPr>
        <p:spPr>
          <a:xfrm>
            <a:off x="731520" y="2423160"/>
            <a:ext cx="5029200" cy="502920"/>
          </a:xfrm>
          <a:prstGeom prst="rect">
            <a:avLst/>
          </a:prstGeom>
          <a:noFill/>
          <a:ln/>
        </p:spPr>
        <p:txBody>
          <a:bodyPr wrap="square" lIns="0" tIns="0" rIns="0" bIns="0" rtlCol="0" anchor="t"/>
          <a:lstStyle/>
          <a:p>
            <a:pPr marL="0" indent="0">
              <a:buNone/>
            </a:pPr>
            <a:r>
              <a:rPr lang="en-US" sz="1250" dirty="0">
                <a:solidFill>
                  <a:schemeClr val="tx1"/>
                </a:solidFill>
              </a:rPr>
              <a:t>At each step t a learner pulls an arm A_t and receives a random reward X_t. In this paper X ~ Bernoulli(p), so a pull pays 1 or 0.</a:t>
            </a:r>
            <a:endParaRPr lang="en-US" sz="1250" dirty="0"/>
          </a:p>
        </p:txBody>
      </p:sp>
      <p:sp>
        <p:nvSpPr>
          <p:cNvPr id="8" name="card"/>
          <p:cNvSpPr/>
          <p:nvPr/>
        </p:nvSpPr>
        <p:spPr>
          <a:xfrm>
            <a:off x="548640" y="3063240"/>
            <a:ext cx="5394960" cy="896112"/>
          </a:xfrm>
          <a:prstGeom prst="roundRect">
            <a:avLst>
              <a:gd name="adj" fmla="val 714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9" name="Text 7"/>
          <p:cNvSpPr txBox="1"/>
          <p:nvPr/>
        </p:nvSpPr>
        <p:spPr>
          <a:xfrm>
            <a:off x="731520" y="3154680"/>
            <a:ext cx="5029200" cy="256032"/>
          </a:xfrm>
          <a:prstGeom prst="rect">
            <a:avLst/>
          </a:prstGeom>
          <a:noFill/>
          <a:ln/>
        </p:spPr>
        <p:txBody>
          <a:bodyPr wrap="square" lIns="0" tIns="0" rIns="0" bIns="0" rtlCol="0" anchor="t"/>
          <a:lstStyle/>
          <a:p>
            <a:pPr marL="0" indent="0">
              <a:buNone/>
            </a:pPr>
            <a:r>
              <a:rPr lang="en-US" sz="1350" b="1" dirty="0">
                <a:solidFill>
                  <a:schemeClr val="tx2"/>
                </a:solidFill>
              </a:rPr>
              <a:t>Best arm</a:t>
            </a:r>
            <a:endParaRPr lang="en-US" sz="1350" dirty="0"/>
          </a:p>
        </p:txBody>
      </p:sp>
      <p:sp>
        <p:nvSpPr>
          <p:cNvPr id="10" name="Text 8"/>
          <p:cNvSpPr txBox="1"/>
          <p:nvPr/>
        </p:nvSpPr>
        <p:spPr>
          <a:xfrm>
            <a:off x="731520" y="3429000"/>
            <a:ext cx="5029200" cy="502920"/>
          </a:xfrm>
          <a:prstGeom prst="rect">
            <a:avLst/>
          </a:prstGeom>
          <a:noFill/>
          <a:ln/>
        </p:spPr>
        <p:txBody>
          <a:bodyPr wrap="square" lIns="0" tIns="0" rIns="0" bIns="0" rtlCol="0" anchor="t"/>
          <a:lstStyle/>
          <a:p>
            <a:pPr marL="0" indent="0">
              <a:buNone/>
            </a:pPr>
            <a:r>
              <a:rPr lang="en-US" sz="1250" dirty="0">
                <a:solidFill>
                  <a:schemeClr val="tx1"/>
                </a:solidFill>
              </a:rPr>
              <a:t>Each arm a has mean reward Q_a = p_a. The best arm a* has Q* = max Q_a.</a:t>
            </a:r>
            <a:endParaRPr lang="en-US" sz="1250" dirty="0"/>
          </a:p>
        </p:txBody>
      </p:sp>
      <p:sp>
        <p:nvSpPr>
          <p:cNvPr id="11" name="card"/>
          <p:cNvSpPr/>
          <p:nvPr/>
        </p:nvSpPr>
        <p:spPr>
          <a:xfrm>
            <a:off x="548640" y="4069080"/>
            <a:ext cx="5394960" cy="896112"/>
          </a:xfrm>
          <a:prstGeom prst="roundRect">
            <a:avLst>
              <a:gd name="adj" fmla="val 714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2" name="Text 10"/>
          <p:cNvSpPr txBox="1"/>
          <p:nvPr/>
        </p:nvSpPr>
        <p:spPr>
          <a:xfrm>
            <a:off x="731520" y="4160520"/>
            <a:ext cx="5029200" cy="256032"/>
          </a:xfrm>
          <a:prstGeom prst="rect">
            <a:avLst/>
          </a:prstGeom>
          <a:noFill/>
          <a:ln/>
        </p:spPr>
        <p:txBody>
          <a:bodyPr wrap="square" lIns="0" tIns="0" rIns="0" bIns="0" rtlCol="0" anchor="t"/>
          <a:lstStyle/>
          <a:p>
            <a:pPr marL="0" indent="0">
              <a:buNone/>
            </a:pPr>
            <a:r>
              <a:rPr lang="en-US" sz="1350" b="1" dirty="0">
                <a:solidFill>
                  <a:schemeClr val="tx2"/>
                </a:solidFill>
              </a:rPr>
              <a:t>Gap</a:t>
            </a:r>
            <a:endParaRPr lang="en-US" sz="1350" dirty="0"/>
          </a:p>
        </p:txBody>
      </p:sp>
      <p:sp>
        <p:nvSpPr>
          <p:cNvPr id="13" name="Text 11"/>
          <p:cNvSpPr txBox="1"/>
          <p:nvPr/>
        </p:nvSpPr>
        <p:spPr>
          <a:xfrm>
            <a:off x="731520" y="4434840"/>
            <a:ext cx="5029200" cy="502920"/>
          </a:xfrm>
          <a:prstGeom prst="rect">
            <a:avLst/>
          </a:prstGeom>
          <a:noFill/>
          <a:ln/>
        </p:spPr>
        <p:txBody>
          <a:bodyPr wrap="square" lIns="0" tIns="0" rIns="0" bIns="0" rtlCol="0" anchor="t"/>
          <a:lstStyle/>
          <a:p>
            <a:pPr marL="0" indent="0">
              <a:buNone/>
            </a:pPr>
            <a:r>
              <a:rPr lang="en-US" sz="1250" dirty="0">
                <a:solidFill>
                  <a:schemeClr val="tx1"/>
                </a:solidFill>
              </a:rPr>
              <a:t>Δ_a = Q* − Q_a. A small Δ means two arms are hard to tell apart.</a:t>
            </a:r>
            <a:endParaRPr lang="en-US" sz="1250" dirty="0"/>
          </a:p>
        </p:txBody>
      </p:sp>
      <p:sp>
        <p:nvSpPr>
          <p:cNvPr id="14" name="card"/>
          <p:cNvSpPr/>
          <p:nvPr/>
        </p:nvSpPr>
        <p:spPr>
          <a:xfrm>
            <a:off x="548640" y="5074920"/>
            <a:ext cx="5394960" cy="896112"/>
          </a:xfrm>
          <a:prstGeom prst="roundRect">
            <a:avLst>
              <a:gd name="adj" fmla="val 714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5" name="Text 13"/>
          <p:cNvSpPr txBox="1"/>
          <p:nvPr/>
        </p:nvSpPr>
        <p:spPr>
          <a:xfrm>
            <a:off x="731520" y="5166360"/>
            <a:ext cx="5029200" cy="256032"/>
          </a:xfrm>
          <a:prstGeom prst="rect">
            <a:avLst/>
          </a:prstGeom>
          <a:noFill/>
          <a:ln/>
        </p:spPr>
        <p:txBody>
          <a:bodyPr wrap="square" lIns="0" tIns="0" rIns="0" bIns="0" rtlCol="0" anchor="t"/>
          <a:lstStyle/>
          <a:p>
            <a:pPr marL="0" indent="0">
              <a:buNone/>
            </a:pPr>
            <a:r>
              <a:rPr lang="en-US" sz="1350" b="1" dirty="0">
                <a:solidFill>
                  <a:schemeClr val="tx2"/>
                </a:solidFill>
              </a:rPr>
              <a:t>Estimates</a:t>
            </a:r>
            <a:endParaRPr lang="en-US" sz="1350" dirty="0"/>
          </a:p>
        </p:txBody>
      </p:sp>
      <p:sp>
        <p:nvSpPr>
          <p:cNvPr id="16" name="Text 14"/>
          <p:cNvSpPr txBox="1"/>
          <p:nvPr/>
        </p:nvSpPr>
        <p:spPr>
          <a:xfrm>
            <a:off x="731520" y="5440680"/>
            <a:ext cx="5029200" cy="502920"/>
          </a:xfrm>
          <a:prstGeom prst="rect">
            <a:avLst/>
          </a:prstGeom>
          <a:noFill/>
          <a:ln/>
        </p:spPr>
        <p:txBody>
          <a:bodyPr wrap="square" lIns="0" tIns="0" rIns="0" bIns="0" rtlCol="0" anchor="t"/>
          <a:lstStyle/>
          <a:p>
            <a:pPr marL="0" indent="0">
              <a:buNone/>
            </a:pPr>
            <a:r>
              <a:rPr lang="en-US" sz="1250" dirty="0">
                <a:solidFill>
                  <a:schemeClr val="tx1"/>
                </a:solidFill>
              </a:rPr>
              <a:t>T_a(t) counts pulls of arm a up to t, and Q̂_a(t) is its empirical mean reward.</a:t>
            </a:r>
            <a:endParaRPr lang="en-US" sz="1250" dirty="0"/>
          </a:p>
        </p:txBody>
      </p:sp>
      <p:sp>
        <p:nvSpPr>
          <p:cNvPr id="17" name="Text 15"/>
          <p:cNvSpPr txBox="1"/>
          <p:nvPr/>
        </p:nvSpPr>
        <p:spPr>
          <a:xfrm>
            <a:off x="6309360" y="1645920"/>
            <a:ext cx="5333695"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Regret</a:t>
            </a:r>
            <a:endParaRPr lang="en-US" sz="1600" dirty="0"/>
          </a:p>
        </p:txBody>
      </p:sp>
      <p:sp>
        <p:nvSpPr>
          <p:cNvPr id="18" name="card"/>
          <p:cNvSpPr/>
          <p:nvPr/>
        </p:nvSpPr>
        <p:spPr>
          <a:xfrm>
            <a:off x="6309360" y="2057400"/>
            <a:ext cx="5333695" cy="850392"/>
          </a:xfrm>
          <a:prstGeom prst="roundRect">
            <a:avLst>
              <a:gd name="adj" fmla="val 7527"/>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9" name="Text 17"/>
          <p:cNvSpPr txBox="1"/>
          <p:nvPr/>
        </p:nvSpPr>
        <p:spPr>
          <a:xfrm>
            <a:off x="6492240" y="2148840"/>
            <a:ext cx="4967935" cy="256032"/>
          </a:xfrm>
          <a:prstGeom prst="rect">
            <a:avLst/>
          </a:prstGeom>
          <a:noFill/>
          <a:ln/>
        </p:spPr>
        <p:txBody>
          <a:bodyPr wrap="square" lIns="0" tIns="0" rIns="0" bIns="0" rtlCol="0" anchor="t"/>
          <a:lstStyle/>
          <a:p>
            <a:pPr marL="0" indent="0">
              <a:buNone/>
            </a:pPr>
            <a:r>
              <a:rPr lang="en-US" sz="1200" b="1" dirty="0">
                <a:solidFill>
                  <a:schemeClr val="accent2"/>
                </a:solidFill>
              </a:rPr>
              <a:t>Cumulative regret (Definition 2.1)</a:t>
            </a:r>
            <a:endParaRPr lang="en-US" sz="1200" dirty="0"/>
          </a:p>
        </p:txBody>
      </p:sp>
      <p:sp>
        <p:nvSpPr>
          <p:cNvPr id="20" name="Text 18"/>
          <p:cNvSpPr txBox="1"/>
          <p:nvPr/>
        </p:nvSpPr>
        <p:spPr>
          <a:xfrm>
            <a:off x="6492240" y="2423160"/>
            <a:ext cx="4967935" cy="411480"/>
          </a:xfrm>
          <a:prstGeom prst="rect">
            <a:avLst/>
          </a:prstGeom>
          <a:noFill/>
          <a:ln/>
        </p:spPr>
        <p:txBody>
          <a:bodyPr wrap="square" lIns="0" tIns="0" rIns="0" bIns="0" rtlCol="0" anchor="t"/>
          <a:lstStyle/>
          <a:p>
            <a:pPr marL="0" indent="0">
              <a:buNone/>
            </a:pPr>
            <a:r>
              <a:rPr lang="en-US" sz="1900" b="1" dirty="0">
                <a:solidFill>
                  <a:schemeClr val="tx1"/>
                </a:solidFill>
                <a:latin typeface="Cambria" pitchFamily="34" charset="0"/>
                <a:ea typeface="Cambria" pitchFamily="34" charset="-122"/>
                <a:cs typeface="Cambria" pitchFamily="34" charset="-120"/>
              </a:rPr>
              <a:t>R_n = n·Q* − E[ Σ X_t ]</a:t>
            </a:r>
            <a:endParaRPr lang="en-US" sz="1900" dirty="0"/>
          </a:p>
        </p:txBody>
      </p:sp>
      <p:sp>
        <p:nvSpPr>
          <p:cNvPr id="21" name="card"/>
          <p:cNvSpPr/>
          <p:nvPr/>
        </p:nvSpPr>
        <p:spPr>
          <a:xfrm>
            <a:off x="6309360" y="3017520"/>
            <a:ext cx="5333695" cy="850392"/>
          </a:xfrm>
          <a:prstGeom prst="roundRect">
            <a:avLst>
              <a:gd name="adj" fmla="val 7527"/>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2" name="Text 20"/>
          <p:cNvSpPr txBox="1"/>
          <p:nvPr/>
        </p:nvSpPr>
        <p:spPr>
          <a:xfrm>
            <a:off x="6492240" y="3108960"/>
            <a:ext cx="4967935" cy="256032"/>
          </a:xfrm>
          <a:prstGeom prst="rect">
            <a:avLst/>
          </a:prstGeom>
          <a:noFill/>
          <a:ln/>
        </p:spPr>
        <p:txBody>
          <a:bodyPr wrap="square" lIns="0" tIns="0" rIns="0" bIns="0" rtlCol="0" anchor="t"/>
          <a:lstStyle/>
          <a:p>
            <a:pPr marL="0" indent="0">
              <a:buNone/>
            </a:pPr>
            <a:r>
              <a:rPr lang="en-US" sz="1200" b="1" dirty="0">
                <a:solidFill>
                  <a:schemeClr val="accent2"/>
                </a:solidFill>
              </a:rPr>
              <a:t>Per-run pseudo-regret recorded (§3.5)</a:t>
            </a:r>
            <a:endParaRPr lang="en-US" sz="1200" dirty="0"/>
          </a:p>
        </p:txBody>
      </p:sp>
      <p:sp>
        <p:nvSpPr>
          <p:cNvPr id="23" name="Text 21"/>
          <p:cNvSpPr txBox="1"/>
          <p:nvPr/>
        </p:nvSpPr>
        <p:spPr>
          <a:xfrm>
            <a:off x="6492240" y="3383280"/>
            <a:ext cx="4967935" cy="411480"/>
          </a:xfrm>
          <a:prstGeom prst="rect">
            <a:avLst/>
          </a:prstGeom>
          <a:noFill/>
          <a:ln/>
        </p:spPr>
        <p:txBody>
          <a:bodyPr wrap="square" lIns="0" tIns="0" rIns="0" bIns="0" rtlCol="0" anchor="t"/>
          <a:lstStyle/>
          <a:p>
            <a:pPr marL="0" indent="0">
              <a:buNone/>
            </a:pPr>
            <a:r>
              <a:rPr lang="en-US" sz="1900" b="1" dirty="0">
                <a:solidFill>
                  <a:schemeClr val="tx1"/>
                </a:solidFill>
                <a:latin typeface="Cambria" pitchFamily="34" charset="0"/>
                <a:ea typeface="Cambria" pitchFamily="34" charset="-122"/>
                <a:cs typeface="Cambria" pitchFamily="34" charset="-120"/>
              </a:rPr>
              <a:t>R̃_t = Σ ( Q* − Q_{A_k} ),  k = 1…t</a:t>
            </a:r>
            <a:endParaRPr lang="en-US" sz="1900" dirty="0"/>
          </a:p>
        </p:txBody>
      </p:sp>
      <p:sp>
        <p:nvSpPr>
          <p:cNvPr id="24" name="card"/>
          <p:cNvSpPr/>
          <p:nvPr/>
        </p:nvSpPr>
        <p:spPr>
          <a:xfrm>
            <a:off x="6309360" y="3977640"/>
            <a:ext cx="5333695" cy="850392"/>
          </a:xfrm>
          <a:prstGeom prst="roundRect">
            <a:avLst>
              <a:gd name="adj" fmla="val 7527"/>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5" name="Text 23"/>
          <p:cNvSpPr txBox="1"/>
          <p:nvPr/>
        </p:nvSpPr>
        <p:spPr>
          <a:xfrm>
            <a:off x="6492240" y="4069080"/>
            <a:ext cx="4967935" cy="256032"/>
          </a:xfrm>
          <a:prstGeom prst="rect">
            <a:avLst/>
          </a:prstGeom>
          <a:noFill/>
          <a:ln/>
        </p:spPr>
        <p:txBody>
          <a:bodyPr wrap="square" lIns="0" tIns="0" rIns="0" bIns="0" rtlCol="0" anchor="t"/>
          <a:lstStyle/>
          <a:p>
            <a:pPr marL="0" indent="0">
              <a:buNone/>
            </a:pPr>
            <a:r>
              <a:rPr lang="en-US" sz="1200" b="1" dirty="0">
                <a:solidFill>
                  <a:schemeClr val="accent2"/>
                </a:solidFill>
              </a:rPr>
              <a:t>Two arms: per-run pseudo-regret is gap × suboptimal pulls</a:t>
            </a:r>
            <a:endParaRPr lang="en-US" sz="1200" dirty="0"/>
          </a:p>
        </p:txBody>
      </p:sp>
      <p:sp>
        <p:nvSpPr>
          <p:cNvPr id="26" name="Text 24"/>
          <p:cNvSpPr txBox="1"/>
          <p:nvPr/>
        </p:nvSpPr>
        <p:spPr>
          <a:xfrm>
            <a:off x="6492240" y="4343400"/>
            <a:ext cx="4967935" cy="411480"/>
          </a:xfrm>
          <a:prstGeom prst="rect">
            <a:avLst/>
          </a:prstGeom>
          <a:noFill/>
          <a:ln/>
        </p:spPr>
        <p:txBody>
          <a:bodyPr wrap="square" lIns="0" tIns="0" rIns="0" bIns="0" rtlCol="0" anchor="t"/>
          <a:lstStyle/>
          <a:p>
            <a:pPr marL="0" indent="0">
              <a:buNone/>
            </a:pPr>
            <a:r>
              <a:rPr lang="en-US" sz="1900" b="1" dirty="0">
                <a:solidFill>
                  <a:schemeClr val="tx1"/>
                </a:solidFill>
                <a:latin typeface="Cambria" pitchFamily="34" charset="0"/>
                <a:ea typeface="Cambria" pitchFamily="34" charset="-122"/>
                <a:cs typeface="Cambria" pitchFamily="34" charset="-120"/>
              </a:rPr>
              <a:t>R̃_t = Δ · N_suboptimal(t);  E[R̃_t] = R_t</a:t>
            </a:r>
            <a:endParaRPr lang="en-US" sz="1900" dirty="0"/>
          </a:p>
        </p:txBody>
      </p:sp>
      <p:sp>
        <p:nvSpPr>
          <p:cNvPr id="27" name="example"/>
          <p:cNvSpPr/>
          <p:nvPr/>
        </p:nvSpPr>
        <p:spPr>
          <a:xfrm>
            <a:off x="6309360" y="4983480"/>
            <a:ext cx="5333695" cy="1234440"/>
          </a:xfrm>
          <a:prstGeom prst="roundRect">
            <a:avLst>
              <a:gd name="adj" fmla="val 5185"/>
            </a:avLst>
          </a:prstGeom>
          <a:solidFill>
            <a:schemeClr val="accent5"/>
          </a:solidFill>
          <a:ln/>
        </p:spPr>
        <p:txBody>
          <a:bodyPr/>
          <a:lstStyle/>
          <a:p>
            <a:endParaRPr/>
          </a:p>
        </p:txBody>
      </p:sp>
      <p:sp>
        <p:nvSpPr>
          <p:cNvPr id="28" name="Text 26"/>
          <p:cNvSpPr txBox="1"/>
          <p:nvPr/>
        </p:nvSpPr>
        <p:spPr>
          <a:xfrm>
            <a:off x="6492240" y="5093208"/>
            <a:ext cx="4965192" cy="228600"/>
          </a:xfrm>
          <a:prstGeom prst="rect">
            <a:avLst/>
          </a:prstGeom>
          <a:noFill/>
          <a:ln/>
        </p:spPr>
        <p:txBody>
          <a:bodyPr wrap="square" lIns="0" tIns="0" rIns="0" bIns="0" rtlCol="0" anchor="t"/>
          <a:lstStyle/>
          <a:p>
            <a:pPr marL="0" indent="0">
              <a:buNone/>
            </a:pPr>
            <a:r>
              <a:rPr lang="en-US" sz="1100" b="1" kern="0" spc="300" dirty="0">
                <a:solidFill>
                  <a:schemeClr val="tx2"/>
                </a:solidFill>
              </a:rPr>
              <a:t>WORKED EXAMPLE + VERIFIED PAPER SOURCES</a:t>
            </a:r>
            <a:endParaRPr lang="en-US" sz="1100" dirty="0"/>
          </a:p>
        </p:txBody>
      </p:sp>
      <p:sp>
        <p:nvSpPr>
          <p:cNvPr id="29" name="Text 27">
            <a:hlinkClick r:id="rId3"/>
          </p:cNvPr>
          <p:cNvSpPr txBox="1"/>
          <p:nvPr/>
        </p:nvSpPr>
        <p:spPr>
          <a:xfrm>
            <a:off x="6492240" y="5349240"/>
            <a:ext cx="4967935" cy="822960"/>
          </a:xfrm>
          <a:prstGeom prst="rect">
            <a:avLst/>
          </a:prstGeom>
          <a:noFill/>
          <a:ln/>
        </p:spPr>
        <p:txBody>
          <a:bodyPr wrap="square" lIns="0" tIns="0" rIns="0" bIns="0" rtlCol="0" anchor="t"/>
          <a:lstStyle/>
          <a:p>
            <a:pPr marL="0" indent="0">
              <a:buNone/>
            </a:pPr>
            <a:r>
              <a:rPr lang="en-US" sz="1200" dirty="0">
                <a:solidFill>
                  <a:schemeClr val="tx1"/>
                </a:solidFill>
              </a:rPr>
              <a:t>A: Δ = 0.1; 100 worse-arm pulls × 0.1 = 10 regret.</a:t>
            </a:r>
            <a:endParaRPr lang="en-US" sz="1250" dirty="0"/>
          </a:p>
          <a:p>
            <a:r>
              <a:rPr lang="en-US" sz="1200" dirty="0">
                <a:solidFill>
                  <a:schemeClr val="tx1"/>
                </a:solidFill>
              </a:rPr>
              <a:t>§1: objectives/RQs; §2: algorithms; §3: protocol;</a:t>
            </a:r>
          </a:p>
          <a:p>
            <a:r>
              <a:rPr lang="en-US" sz="1200" dirty="0">
                <a:solidFill>
                  <a:schemeClr val="tx1"/>
                </a:solidFill>
              </a:rPr>
              <a:t>Tables 3–5: published results.</a:t>
            </a:r>
          </a:p>
        </p:txBody>
      </p:sp>
      <p:sp>
        <p:nvSpPr>
          <p:cNvPr id="31"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a:t>
            </a:fld>
            <a:endParaRPr lang="en-US"/>
          </a:p>
        </p:txBody>
      </p:sp>
      <p:sp>
        <p:nvSpPr>
          <p:cNvPr id="30" name="TextBox 29">
            <a:hlinkClick r:id="rId4"/>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Sources: Wolf §2.1 and §3.5; Lattimore &amp; Szepesvári, Bandit Algorithms (2020).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ALGORITHMS</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Eight algorithms in three families, from simple to variance-aware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169664"/>
        </p:xfrm>
        <a:graphic>
          <a:graphicData uri="http://schemas.openxmlformats.org/drawingml/2006/table">
            <a:tbl>
              <a:tblPr/>
              <a:tblGrid>
                <a:gridCol w="155448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2450592">
                  <a:extLst>
                    <a:ext uri="{9D8B030D-6E8A-4147-A177-3AD203B41FA5}">
                      <a16:colId xmlns:a16="http://schemas.microsoft.com/office/drawing/2014/main" val="20003"/>
                    </a:ext>
                  </a:extLst>
                </a:gridCol>
              </a:tblGrid>
              <a:tr h="365760">
                <a:tc>
                  <a:txBody>
                    <a:bodyPr/>
                    <a:lstStyle/>
                    <a:p>
                      <a:pPr marL="0" indent="0">
                        <a:buNone/>
                      </a:pPr>
                      <a:r>
                        <a:rPr lang="en-US" sz="1250" b="1" dirty="0">
                          <a:solidFill>
                            <a:schemeClr val="bg1"/>
                          </a:solidFill>
                          <a:latin typeface="Calibri" pitchFamily="34" charset="0"/>
                          <a:ea typeface="Calibri" pitchFamily="34" charset="-122"/>
                          <a:cs typeface="Calibri" pitchFamily="34" charset="-120"/>
                        </a:rPr>
                        <a:t>Algorithm</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buNone/>
                      </a:pPr>
                      <a:r>
                        <a:rPr lang="en-US" sz="1250" b="1" dirty="0">
                          <a:solidFill>
                            <a:schemeClr val="bg1"/>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buNone/>
                      </a:pPr>
                      <a:r>
                        <a:rPr lang="en-US" sz="1250" b="1" dirty="0">
                          <a:solidFill>
                            <a:schemeClr val="bg1"/>
                          </a:solidFill>
                          <a:latin typeface="Calibri" pitchFamily="34" charset="0"/>
                          <a:ea typeface="Calibri" pitchFamily="34" charset="-122"/>
                          <a:cs typeface="Calibri" pitchFamily="34" charset="-120"/>
                        </a:rPr>
                        <a:t>How it picks an arm</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buNone/>
                      </a:pPr>
                      <a:r>
                        <a:rPr lang="en-US" sz="1250" b="1" dirty="0">
                          <a:solidFill>
                            <a:schemeClr val="bg1"/>
                          </a:solidFill>
                          <a:latin typeface="Calibri" pitchFamily="34" charset="0"/>
                          <a:ea typeface="Calibri" pitchFamily="34" charset="-122"/>
                          <a:cs typeface="Calibri" pitchFamily="34" charset="-120"/>
                        </a:rPr>
                        <a:t>Setting in the paper</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ETC</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Explore every arm m times, then commit to the arm with the best empirical mean</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m = 10, 10², 10³, 10⁴, 10⁵</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ε-Greedy</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With probability ε pull a random arm, otherwise the best empirical mean</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ε = 0.5, 0.1, 0.05, 0.01, 0.005</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UCB</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Pull the arm with the highest Q̂ + √(2 ln t / T): optimism for rarely tried arms</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no parameters</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UCB-V</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Variance-aware</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Uses empirical variance in a Bernstein confidence bonus</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θ = 1, c = 1, b = 1</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UCB-Tuned</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Variance-aware</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Scales the confidence bonus by the arm's own variance estimate</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no parameters</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extLst>
                  <a:ext uri="{0D108BD9-81ED-4DB2-BD59-A6C34878D82A}">
                    <a16:rowId xmlns:a16="http://schemas.microsoft.com/office/drawing/2014/main" val="10005"/>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EUCBV</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Variance-aware</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UCB-V style bounds combined with elimination of weak arms</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ρ = 0.5, ψ = n/K²</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PAC-UCB</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Paper: non-variance-aware*</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Pull-count-based exploration schedule; published code still uses empirical variance</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c = 1, b = 1, q = 1.3, β = 0.05</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75488">
                <a:tc>
                  <a:txBody>
                    <a:bodyPr/>
                    <a:lstStyle/>
                    <a:p>
                      <a:pPr marL="0" indent="0">
                        <a:buNone/>
                      </a:pPr>
                      <a:r>
                        <a:rPr lang="en-US" sz="1350" b="1" dirty="0">
                          <a:solidFill>
                            <a:schemeClr val="tx1"/>
                          </a:solidFill>
                          <a:latin typeface="Calibri" pitchFamily="34" charset="0"/>
                          <a:ea typeface="Calibri" pitchFamily="34" charset="-122"/>
                          <a:cs typeface="Calibri" pitchFamily="34" charset="-120"/>
                        </a:rPr>
                        <a:t>UCB-Improved</a:t>
                      </a:r>
                      <a:endParaRPr lang="en-US" sz="13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Non-variance-aware</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50" dirty="0">
                          <a:solidFill>
                            <a:schemeClr val="tx1"/>
                          </a:solidFill>
                          <a:latin typeface="Calibri" pitchFamily="34" charset="0"/>
                          <a:ea typeface="Calibri" pitchFamily="34" charset="-122"/>
                          <a:cs typeface="Calibri" pitchFamily="34" charset="-120"/>
                        </a:rPr>
                        <a:t>Phased arm elimination with adaptive bounds; one pull per time step</a:t>
                      </a:r>
                      <a:endParaRPr lang="en-US" sz="125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δ = 1</a:t>
                      </a:r>
                      <a:endParaRPr lang="en-US" sz="1200" dirty="0">
                        <a:latin typeface="Calibri" charset="0"/>
                        <a:ea typeface="Calibri" charset="0"/>
                        <a:cs typeface="Calibri" charset="0"/>
                      </a:endParaRPr>
                    </a:p>
                  </a:txBody>
                  <a:tcPr marL="109728" marR="109728"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4" name="Text 2"/>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200" b="1" dirty="0">
                <a:solidFill>
                  <a:schemeClr val="tx2"/>
                </a:solidFill>
              </a:rPr>
              <a:t>Shaded: our three reproduced methods. *PAC-UCB taxonomy follows paper Table 1; its code uses variance. Sources: §2.2–2.4; pinned code.</a:t>
            </a:r>
            <a:endParaRPr lang="en-US" sz="12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4</a:t>
            </a:fld>
            <a:endParaRPr lang="en-US"/>
          </a:p>
        </p:txBody>
      </p:sp>
      <p:sp>
        <p:nvSpPr>
          <p:cNvPr id="26" name="TextBox 25">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PAC-UCB code: paper-linked commit ab0e657, src/algorithms/PAC_UCB.py.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ALGORITHMS IN DETAIL</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ETC, UCB and UCB-Tuned differ in how they price uncertainty</a:t>
            </a:r>
            <a:endParaRPr lang="en-US" sz="2800" dirty="0"/>
          </a:p>
        </p:txBody>
      </p:sp>
      <p:sp>
        <p:nvSpPr>
          <p:cNvPr id="4" name="card"/>
          <p:cNvSpPr/>
          <p:nvPr/>
        </p:nvSpPr>
        <p:spPr>
          <a:xfrm>
            <a:off x="548640" y="1645920"/>
            <a:ext cx="3545738" cy="3182112"/>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Text 3"/>
          <p:cNvSpPr txBox="1"/>
          <p:nvPr/>
        </p:nvSpPr>
        <p:spPr>
          <a:xfrm>
            <a:off x="777240" y="1828800"/>
            <a:ext cx="1808378" cy="41148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ETC</a:t>
            </a:r>
            <a:endParaRPr lang="en-US" sz="2200" dirty="0"/>
          </a:p>
        </p:txBody>
      </p:sp>
      <p:sp>
        <p:nvSpPr>
          <p:cNvPr id="6" name="family tag"/>
          <p:cNvSpPr/>
          <p:nvPr/>
        </p:nvSpPr>
        <p:spPr>
          <a:xfrm>
            <a:off x="2539898" y="1892808"/>
            <a:ext cx="1325880" cy="274320"/>
          </a:xfrm>
          <a:prstGeom prst="roundRect">
            <a:avLst>
              <a:gd name="adj" fmla="val 50000"/>
            </a:avLst>
          </a:prstGeom>
          <a:solidFill>
            <a:schemeClr val="accent5"/>
          </a:solidFill>
          <a:ln/>
        </p:spPr>
        <p:txBody>
          <a:bodyPr/>
          <a:lstStyle/>
          <a:p>
            <a:endParaRPr/>
          </a:p>
        </p:txBody>
      </p:sp>
      <p:sp>
        <p:nvSpPr>
          <p:cNvPr id="7" name="Text 5"/>
          <p:cNvSpPr txBox="1"/>
          <p:nvPr/>
        </p:nvSpPr>
        <p:spPr>
          <a:xfrm>
            <a:off x="2539898" y="1892808"/>
            <a:ext cx="1325880" cy="274320"/>
          </a:xfrm>
          <a:prstGeom prst="rect">
            <a:avLst/>
          </a:prstGeom>
          <a:noFill/>
          <a:ln/>
        </p:spPr>
        <p:txBody>
          <a:bodyPr wrap="square" lIns="0" tIns="0" rIns="0" bIns="0" rtlCol="0" anchor="ctr"/>
          <a:lstStyle/>
          <a:p>
            <a:pPr marL="0" indent="0" algn="ctr">
              <a:buNone/>
            </a:pPr>
            <a:r>
              <a:rPr lang="en-US" sz="1100" b="1" dirty="0">
                <a:solidFill>
                  <a:schemeClr val="tx2"/>
                </a:solidFill>
              </a:rPr>
              <a:t>Standard</a:t>
            </a:r>
            <a:endParaRPr lang="en-US" sz="1100" dirty="0"/>
          </a:p>
        </p:txBody>
      </p:sp>
      <p:sp>
        <p:nvSpPr>
          <p:cNvPr id="8" name="Text 6"/>
          <p:cNvSpPr txBox="1"/>
          <p:nvPr/>
        </p:nvSpPr>
        <p:spPr>
          <a:xfrm>
            <a:off x="777240" y="242316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RULE</a:t>
            </a:r>
            <a:endParaRPr lang="en-US" sz="1050" dirty="0"/>
          </a:p>
        </p:txBody>
      </p:sp>
      <p:sp>
        <p:nvSpPr>
          <p:cNvPr id="9" name="rule box"/>
          <p:cNvSpPr/>
          <p:nvPr/>
        </p:nvSpPr>
        <p:spPr>
          <a:xfrm>
            <a:off x="777240" y="2651760"/>
            <a:ext cx="3088538" cy="868680"/>
          </a:xfrm>
          <a:prstGeom prst="roundRect">
            <a:avLst>
              <a:gd name="adj" fmla="val 5263"/>
            </a:avLst>
          </a:prstGeom>
          <a:solidFill>
            <a:schemeClr val="bg2"/>
          </a:solidFill>
          <a:ln/>
        </p:spPr>
        <p:txBody>
          <a:bodyPr/>
          <a:lstStyle/>
          <a:p>
            <a:endParaRPr/>
          </a:p>
        </p:txBody>
      </p:sp>
      <p:sp>
        <p:nvSpPr>
          <p:cNvPr id="10" name="Text 8"/>
          <p:cNvSpPr txBox="1"/>
          <p:nvPr/>
        </p:nvSpPr>
        <p:spPr>
          <a:xfrm>
            <a:off x="896112" y="2651760"/>
            <a:ext cx="2850794" cy="868680"/>
          </a:xfrm>
          <a:prstGeom prst="rect">
            <a:avLst/>
          </a:prstGeom>
          <a:noFill/>
          <a:ln/>
        </p:spPr>
        <p:txBody>
          <a:bodyPr wrap="square" lIns="0" tIns="0" rIns="0" bIns="0" rtlCol="0" anchor="ctr"/>
          <a:lstStyle/>
          <a:p>
            <a:pPr marL="0" indent="0">
              <a:buNone/>
            </a:pPr>
            <a:r>
              <a:rPr lang="en-US" sz="1250" b="1" dirty="0">
                <a:solidFill>
                  <a:schemeClr val="tx1"/>
                </a:solidFill>
              </a:rPr>
              <a:t>Pull each arm m times, then fix the arm with the highest exploration mean</a:t>
            </a:r>
            <a:endParaRPr lang="en-US" sz="1250" dirty="0"/>
          </a:p>
        </p:txBody>
      </p:sp>
      <p:sp>
        <p:nvSpPr>
          <p:cNvPr id="11" name="Text 9"/>
          <p:cNvSpPr txBox="1"/>
          <p:nvPr/>
        </p:nvSpPr>
        <p:spPr>
          <a:xfrm>
            <a:off x="777240" y="365760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INTUITION</a:t>
            </a:r>
            <a:endParaRPr lang="en-US" sz="1050" dirty="0"/>
          </a:p>
        </p:txBody>
      </p:sp>
      <p:sp>
        <p:nvSpPr>
          <p:cNvPr id="12" name="Text 10"/>
          <p:cNvSpPr txBox="1"/>
          <p:nvPr/>
        </p:nvSpPr>
        <p:spPr>
          <a:xfrm>
            <a:off x="777240" y="3877056"/>
            <a:ext cx="3088538" cy="859536"/>
          </a:xfrm>
          <a:prstGeom prst="rect">
            <a:avLst/>
          </a:prstGeom>
          <a:noFill/>
          <a:ln/>
        </p:spPr>
        <p:txBody>
          <a:bodyPr wrap="square" lIns="0" tIns="0" rIns="0" bIns="0" rtlCol="0" anchor="t"/>
          <a:lstStyle/>
          <a:p>
            <a:pPr marL="0" indent="0">
              <a:buNone/>
            </a:pPr>
            <a:r>
              <a:rPr lang="en-US" sz="1200" dirty="0">
                <a:solidFill>
                  <a:schemeClr val="tx1"/>
                </a:solidFill>
              </a:rPr>
              <a:t>Exploration costs m·Δ; a wrong fixed commitment persists. The ETC check uses a normal approximation.</a:t>
            </a:r>
            <a:endParaRPr lang="en-US" sz="1300" dirty="0"/>
          </a:p>
        </p:txBody>
      </p:sp>
      <p:sp>
        <p:nvSpPr>
          <p:cNvPr id="15" name="card"/>
          <p:cNvSpPr/>
          <p:nvPr/>
        </p:nvSpPr>
        <p:spPr>
          <a:xfrm>
            <a:off x="4322978" y="1645920"/>
            <a:ext cx="3545738" cy="3182112"/>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6" name="Text 14"/>
          <p:cNvSpPr txBox="1"/>
          <p:nvPr/>
        </p:nvSpPr>
        <p:spPr>
          <a:xfrm>
            <a:off x="4551578" y="1828800"/>
            <a:ext cx="1808378" cy="41148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UCB</a:t>
            </a:r>
            <a:endParaRPr lang="en-US" sz="2200" dirty="0"/>
          </a:p>
        </p:txBody>
      </p:sp>
      <p:sp>
        <p:nvSpPr>
          <p:cNvPr id="17" name="family tag"/>
          <p:cNvSpPr/>
          <p:nvPr/>
        </p:nvSpPr>
        <p:spPr>
          <a:xfrm>
            <a:off x="6314237" y="1892808"/>
            <a:ext cx="1325880" cy="274320"/>
          </a:xfrm>
          <a:prstGeom prst="roundRect">
            <a:avLst>
              <a:gd name="adj" fmla="val 50000"/>
            </a:avLst>
          </a:prstGeom>
          <a:solidFill>
            <a:schemeClr val="accent5"/>
          </a:solidFill>
          <a:ln/>
        </p:spPr>
        <p:txBody>
          <a:bodyPr/>
          <a:lstStyle/>
          <a:p>
            <a:endParaRPr/>
          </a:p>
        </p:txBody>
      </p:sp>
      <p:sp>
        <p:nvSpPr>
          <p:cNvPr id="18" name="Text 16"/>
          <p:cNvSpPr txBox="1"/>
          <p:nvPr/>
        </p:nvSpPr>
        <p:spPr>
          <a:xfrm>
            <a:off x="6314237" y="1892808"/>
            <a:ext cx="1325880" cy="274320"/>
          </a:xfrm>
          <a:prstGeom prst="rect">
            <a:avLst/>
          </a:prstGeom>
          <a:noFill/>
          <a:ln/>
        </p:spPr>
        <p:txBody>
          <a:bodyPr wrap="square" lIns="0" tIns="0" rIns="0" bIns="0" rtlCol="0" anchor="ctr"/>
          <a:lstStyle/>
          <a:p>
            <a:pPr marL="0" indent="0" algn="ctr">
              <a:buNone/>
            </a:pPr>
            <a:r>
              <a:rPr lang="en-US" sz="1100" b="1" dirty="0">
                <a:solidFill>
                  <a:schemeClr val="tx2"/>
                </a:solidFill>
              </a:rPr>
              <a:t>Standard</a:t>
            </a:r>
            <a:endParaRPr lang="en-US" sz="1100" dirty="0"/>
          </a:p>
        </p:txBody>
      </p:sp>
      <p:sp>
        <p:nvSpPr>
          <p:cNvPr id="19" name="Text 17"/>
          <p:cNvSpPr txBox="1"/>
          <p:nvPr/>
        </p:nvSpPr>
        <p:spPr>
          <a:xfrm>
            <a:off x="4551578" y="242316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RULE</a:t>
            </a:r>
            <a:endParaRPr lang="en-US" sz="1050" dirty="0"/>
          </a:p>
        </p:txBody>
      </p:sp>
      <p:sp>
        <p:nvSpPr>
          <p:cNvPr id="20" name="rule box"/>
          <p:cNvSpPr/>
          <p:nvPr/>
        </p:nvSpPr>
        <p:spPr>
          <a:xfrm>
            <a:off x="4551578" y="2651760"/>
            <a:ext cx="3088538" cy="868680"/>
          </a:xfrm>
          <a:prstGeom prst="roundRect">
            <a:avLst>
              <a:gd name="adj" fmla="val 5263"/>
            </a:avLst>
          </a:prstGeom>
          <a:solidFill>
            <a:schemeClr val="bg2"/>
          </a:solidFill>
          <a:ln/>
        </p:spPr>
        <p:txBody>
          <a:bodyPr/>
          <a:lstStyle/>
          <a:p>
            <a:endParaRPr/>
          </a:p>
        </p:txBody>
      </p:sp>
      <p:sp>
        <p:nvSpPr>
          <p:cNvPr id="21" name="Text 19"/>
          <p:cNvSpPr txBox="1"/>
          <p:nvPr/>
        </p:nvSpPr>
        <p:spPr>
          <a:xfrm>
            <a:off x="4670450" y="2651760"/>
            <a:ext cx="2850794" cy="868680"/>
          </a:xfrm>
          <a:prstGeom prst="rect">
            <a:avLst/>
          </a:prstGeom>
          <a:noFill/>
          <a:ln/>
        </p:spPr>
        <p:txBody>
          <a:bodyPr wrap="square" lIns="0" tIns="0" rIns="0" bIns="0" rtlCol="0" anchor="ctr"/>
          <a:lstStyle/>
          <a:p>
            <a:pPr marL="0" indent="0">
              <a:buNone/>
            </a:pPr>
            <a:r>
              <a:rPr lang="en-US" sz="1250" b="1" dirty="0">
                <a:solidFill>
                  <a:schemeClr val="tx1"/>
                </a:solidFill>
              </a:rPr>
              <a:t>Pull argmax  Q̂a + √( 2 ln t / Ta(t) )</a:t>
            </a:r>
            <a:endParaRPr lang="en-US" sz="1250" dirty="0"/>
          </a:p>
        </p:txBody>
      </p:sp>
      <p:sp>
        <p:nvSpPr>
          <p:cNvPr id="22" name="Text 20"/>
          <p:cNvSpPr txBox="1"/>
          <p:nvPr/>
        </p:nvSpPr>
        <p:spPr>
          <a:xfrm>
            <a:off x="4551578" y="365760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INTUITION</a:t>
            </a:r>
            <a:endParaRPr lang="en-US" sz="1050" dirty="0"/>
          </a:p>
        </p:txBody>
      </p:sp>
      <p:sp>
        <p:nvSpPr>
          <p:cNvPr id="23" name="Text 21"/>
          <p:cNvSpPr txBox="1"/>
          <p:nvPr/>
        </p:nvSpPr>
        <p:spPr>
          <a:xfrm>
            <a:off x="4551578" y="3877056"/>
            <a:ext cx="3088538" cy="859536"/>
          </a:xfrm>
          <a:prstGeom prst="rect">
            <a:avLst/>
          </a:prstGeom>
          <a:noFill/>
          <a:ln/>
        </p:spPr>
        <p:txBody>
          <a:bodyPr wrap="square" lIns="0" tIns="0" rIns="0" bIns="0" rtlCol="0" anchor="t"/>
          <a:lstStyle/>
          <a:p>
            <a:pPr marL="0" indent="0">
              <a:buNone/>
            </a:pPr>
            <a:r>
              <a:rPr lang="en-US" sz="1200" dirty="0">
                <a:solidFill>
                  <a:schemeClr val="tx1"/>
                </a:solidFill>
              </a:rPr>
              <a:t>The confidence bonus encourages rarely pulled arms. Expected regret is logarithmic under bounded-reward assumptions.</a:t>
            </a:r>
            <a:endParaRPr lang="en-US" sz="1300" dirty="0"/>
          </a:p>
        </p:txBody>
      </p:sp>
      <p:sp>
        <p:nvSpPr>
          <p:cNvPr id="26" name="card"/>
          <p:cNvSpPr/>
          <p:nvPr/>
        </p:nvSpPr>
        <p:spPr>
          <a:xfrm>
            <a:off x="8097317" y="1645920"/>
            <a:ext cx="3545738" cy="3182112"/>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7" name="Text 25"/>
          <p:cNvSpPr txBox="1"/>
          <p:nvPr/>
        </p:nvSpPr>
        <p:spPr>
          <a:xfrm>
            <a:off x="8325917" y="1828800"/>
            <a:ext cx="1808378" cy="41148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UCB-Tuned</a:t>
            </a:r>
            <a:endParaRPr lang="en-US" sz="2200" dirty="0"/>
          </a:p>
        </p:txBody>
      </p:sp>
      <p:sp>
        <p:nvSpPr>
          <p:cNvPr id="28" name="family tag"/>
          <p:cNvSpPr/>
          <p:nvPr/>
        </p:nvSpPr>
        <p:spPr>
          <a:xfrm>
            <a:off x="10088575" y="1892808"/>
            <a:ext cx="1325880" cy="274320"/>
          </a:xfrm>
          <a:prstGeom prst="roundRect">
            <a:avLst>
              <a:gd name="adj" fmla="val 50000"/>
            </a:avLst>
          </a:prstGeom>
          <a:solidFill>
            <a:schemeClr val="accent6"/>
          </a:solidFill>
          <a:ln/>
        </p:spPr>
        <p:txBody>
          <a:bodyPr/>
          <a:lstStyle/>
          <a:p>
            <a:endParaRPr/>
          </a:p>
        </p:txBody>
      </p:sp>
      <p:sp>
        <p:nvSpPr>
          <p:cNvPr id="29" name="Text 27"/>
          <p:cNvSpPr txBox="1"/>
          <p:nvPr/>
        </p:nvSpPr>
        <p:spPr>
          <a:xfrm>
            <a:off x="10088575" y="1892808"/>
            <a:ext cx="1325880" cy="274320"/>
          </a:xfrm>
          <a:prstGeom prst="rect">
            <a:avLst/>
          </a:prstGeom>
          <a:noFill/>
          <a:ln/>
        </p:spPr>
        <p:txBody>
          <a:bodyPr wrap="square" lIns="0" tIns="0" rIns="0" bIns="0" rtlCol="0" anchor="ctr"/>
          <a:lstStyle/>
          <a:p>
            <a:pPr marL="0" indent="0" algn="ctr">
              <a:buNone/>
            </a:pPr>
            <a:r>
              <a:rPr lang="en-US" sz="1100" b="1" dirty="0">
                <a:solidFill>
                  <a:schemeClr val="accent1"/>
                </a:solidFill>
              </a:rPr>
              <a:t>Variance-aware</a:t>
            </a:r>
            <a:endParaRPr lang="en-US" sz="1100" dirty="0"/>
          </a:p>
        </p:txBody>
      </p:sp>
      <p:sp>
        <p:nvSpPr>
          <p:cNvPr id="30" name="Text 28"/>
          <p:cNvSpPr txBox="1"/>
          <p:nvPr/>
        </p:nvSpPr>
        <p:spPr>
          <a:xfrm>
            <a:off x="8325917" y="242316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RULE</a:t>
            </a:r>
            <a:endParaRPr lang="en-US" sz="1050" dirty="0"/>
          </a:p>
        </p:txBody>
      </p:sp>
      <p:sp>
        <p:nvSpPr>
          <p:cNvPr id="31" name="rule box"/>
          <p:cNvSpPr/>
          <p:nvPr/>
        </p:nvSpPr>
        <p:spPr>
          <a:xfrm>
            <a:off x="8325917" y="2651760"/>
            <a:ext cx="3088538" cy="868680"/>
          </a:xfrm>
          <a:prstGeom prst="roundRect">
            <a:avLst>
              <a:gd name="adj" fmla="val 5263"/>
            </a:avLst>
          </a:prstGeom>
          <a:solidFill>
            <a:schemeClr val="bg2"/>
          </a:solidFill>
          <a:ln/>
        </p:spPr>
        <p:txBody>
          <a:bodyPr/>
          <a:lstStyle/>
          <a:p>
            <a:endParaRPr/>
          </a:p>
        </p:txBody>
      </p:sp>
      <p:sp>
        <p:nvSpPr>
          <p:cNvPr id="32" name="Text 30"/>
          <p:cNvSpPr txBox="1"/>
          <p:nvPr/>
        </p:nvSpPr>
        <p:spPr>
          <a:xfrm>
            <a:off x="8444789" y="2651760"/>
            <a:ext cx="2850794" cy="868680"/>
          </a:xfrm>
          <a:prstGeom prst="rect">
            <a:avLst/>
          </a:prstGeom>
          <a:noFill/>
          <a:ln/>
        </p:spPr>
        <p:txBody>
          <a:bodyPr wrap="square" lIns="0" tIns="0" rIns="0" bIns="0" rtlCol="0" anchor="ctr"/>
          <a:lstStyle/>
          <a:p>
            <a:pPr marL="0" indent="0">
              <a:buNone/>
            </a:pPr>
            <a:r>
              <a:rPr lang="en-US" sz="1250" b="1" dirty="0">
                <a:solidFill>
                  <a:schemeClr val="tx1"/>
                </a:solidFill>
              </a:rPr>
              <a:t>Pull argmax  Q̂a + √( (ln t / Ta) · min(¼, Va) )</a:t>
            </a:r>
            <a:endParaRPr lang="en-US" sz="1250" dirty="0"/>
          </a:p>
          <a:p>
            <a:pPr marL="0" indent="0">
              <a:buNone/>
            </a:pPr>
            <a:r>
              <a:rPr lang="en-US" sz="1250" b="1" dirty="0">
                <a:solidFill>
                  <a:schemeClr val="tx1"/>
                </a:solidFill>
              </a:rPr>
              <a:t>Va = mean(X²) − Q̂a² + √(2 ln t / Ta)</a:t>
            </a:r>
            <a:endParaRPr lang="en-US" sz="1250" dirty="0"/>
          </a:p>
        </p:txBody>
      </p:sp>
      <p:sp>
        <p:nvSpPr>
          <p:cNvPr id="33" name="Text 31"/>
          <p:cNvSpPr txBox="1"/>
          <p:nvPr/>
        </p:nvSpPr>
        <p:spPr>
          <a:xfrm>
            <a:off x="8325917" y="3657600"/>
            <a:ext cx="1828800" cy="201168"/>
          </a:xfrm>
          <a:prstGeom prst="rect">
            <a:avLst/>
          </a:prstGeom>
          <a:noFill/>
          <a:ln/>
        </p:spPr>
        <p:txBody>
          <a:bodyPr wrap="square" lIns="0" tIns="0" rIns="0" bIns="0" rtlCol="0" anchor="t"/>
          <a:lstStyle/>
          <a:p>
            <a:pPr marL="0" indent="0">
              <a:buNone/>
            </a:pPr>
            <a:r>
              <a:rPr lang="en-US" sz="1050" b="1" kern="0" spc="300" dirty="0">
                <a:solidFill>
                  <a:schemeClr val="accent2"/>
                </a:solidFill>
              </a:rPr>
              <a:t>INTUITION</a:t>
            </a:r>
            <a:endParaRPr lang="en-US" sz="1050" dirty="0"/>
          </a:p>
        </p:txBody>
      </p:sp>
      <p:sp>
        <p:nvSpPr>
          <p:cNvPr id="34" name="Text 32"/>
          <p:cNvSpPr txBox="1"/>
          <p:nvPr/>
        </p:nvSpPr>
        <p:spPr>
          <a:xfrm>
            <a:off x="8325917" y="3877056"/>
            <a:ext cx="3088538" cy="859536"/>
          </a:xfrm>
          <a:prstGeom prst="rect">
            <a:avLst/>
          </a:prstGeom>
          <a:noFill/>
          <a:ln/>
        </p:spPr>
        <p:txBody>
          <a:bodyPr wrap="square" lIns="0" tIns="0" rIns="0" bIns="0" rtlCol="0" anchor="t"/>
          <a:lstStyle/>
          <a:p>
            <a:pPr marL="0" indent="0">
              <a:buNone/>
            </a:pPr>
            <a:r>
              <a:rPr lang="en-US" sz="1200" dirty="0">
                <a:solidFill>
                  <a:schemeClr val="tx1"/>
                </a:solidFill>
              </a:rPr>
              <a:t>Variance and uncertainty scale the bonus, capped at ¼. Auer et al. (2002) give no regret bound for this variant.</a:t>
            </a:r>
            <a:endParaRPr lang="en-US" sz="1300" dirty="0"/>
          </a:p>
        </p:txBody>
      </p:sp>
      <p:sp>
        <p:nvSpPr>
          <p:cNvPr id="38"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5</a:t>
            </a:fld>
            <a:endParaRPr lang="en-US"/>
          </a:p>
        </p:txBody>
      </p:sp>
      <p:sp>
        <p:nvSpPr>
          <p:cNvPr id="37" name="TextBox 36">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Sources: Auer, Cesa-Bianchi &amp; Fischer (2002), UCB1 and UCB1-Tuned; Wolf §2.</a:t>
            </a:r>
          </a:p>
        </p:txBody>
      </p:sp>
      <p:sp>
        <p:nvSpPr>
          <p:cNvPr id="39" name="Rounded Rectangle 38"/>
          <p:cNvSpPr/>
          <p:nvPr/>
        </p:nvSpPr>
        <p:spPr>
          <a:xfrm>
            <a:off x="548640" y="5010912"/>
            <a:ext cx="11100816" cy="1188720"/>
          </a:xfrm>
          <a:prstGeom prst="roundRect">
            <a:avLst/>
          </a:prstGeom>
          <a:solidFill>
            <a:srgbClr val="E4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9808" y="5129784"/>
            <a:ext cx="10698480" cy="228600"/>
          </a:xfrm>
          <a:prstGeom prst="rect">
            <a:avLst/>
          </a:prstGeom>
          <a:noFill/>
        </p:spPr>
        <p:txBody>
          <a:bodyPr wrap="square" lIns="0" tIns="0" rIns="0" bIns="0">
            <a:spAutoFit/>
          </a:bodyPr>
          <a:lstStyle/>
          <a:p>
            <a:pPr>
              <a:spcBef>
                <a:spcPts val="0"/>
              </a:spcBef>
              <a:spcAft>
                <a:spcPts val="0"/>
              </a:spcAft>
            </a:pPr>
            <a:r>
              <a:rPr sz="1200" b="1">
                <a:solidFill>
                  <a:srgbClr val="1F5C63"/>
                </a:solidFill>
                <a:latin typeface="Aptos"/>
              </a:rPr>
              <a:t>ARJUN’S CODE CHECK  ·  bandit_sim.py, simulate_ucb, lines 111–113</a:t>
            </a:r>
          </a:p>
        </p:txBody>
      </p:sp>
      <p:sp>
        <p:nvSpPr>
          <p:cNvPr id="41" name="TextBox 40"/>
          <p:cNvSpPr txBox="1"/>
          <p:nvPr/>
        </p:nvSpPr>
        <p:spPr>
          <a:xfrm>
            <a:off x="749808" y="5486400"/>
            <a:ext cx="10698480" cy="585216"/>
          </a:xfrm>
          <a:prstGeom prst="rect">
            <a:avLst/>
          </a:prstGeom>
          <a:noFill/>
        </p:spPr>
        <p:txBody>
          <a:bodyPr wrap="square" lIns="0" tIns="0" rIns="0" bIns="0">
            <a:spAutoFit/>
          </a:bodyPr>
          <a:lstStyle/>
          <a:p>
            <a:pPr>
              <a:spcBef>
                <a:spcPts val="0"/>
              </a:spcBef>
              <a:spcAft>
                <a:spcPts val="0"/>
              </a:spcAft>
            </a:pPr>
            <a:r>
              <a:rPr sz="1450" b="0">
                <a:solidFill>
                  <a:srgbClr val="1D2B2F"/>
                </a:solidFill>
                <a:latin typeface="Consolas"/>
              </a:rPr>
              <a:t>v = sumsq / counts - mean * mean + np.sqrt(2.0 * ln_t / counts)</a:t>
            </a:r>
          </a:p>
          <a:p>
            <a:pPr>
              <a:spcBef>
                <a:spcPts val="0"/>
              </a:spcBef>
              <a:spcAft>
                <a:spcPts val="0"/>
              </a:spcAft>
            </a:pPr>
            <a:r>
              <a:rPr sz="1450" b="0">
                <a:solidFill>
                  <a:srgbClr val="1D2B2F"/>
                </a:solidFill>
                <a:latin typeface="Consolas"/>
              </a:rPr>
              <a:t>index = mean + np.sqrt(ln_t / counts * np.minimum(0.25, 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EXPERIMENTAL DESIGN</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Paper’s setup: common initialization and controlled time steps</a:t>
            </a:r>
            <a:endParaRPr lang="en-US" sz="2800" dirty="0"/>
          </a:p>
        </p:txBody>
      </p:sp>
      <p:sp>
        <p:nvSpPr>
          <p:cNvPr id="4" name="card"/>
          <p:cNvSpPr/>
          <p:nvPr/>
        </p:nvSpPr>
        <p:spPr>
          <a:xfrm>
            <a:off x="548640" y="1645920"/>
            <a:ext cx="3545738" cy="41605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column header"/>
          <p:cNvSpPr/>
          <p:nvPr/>
        </p:nvSpPr>
        <p:spPr>
          <a:xfrm>
            <a:off x="777240" y="1874520"/>
            <a:ext cx="3088538" cy="457200"/>
          </a:xfrm>
          <a:prstGeom prst="roundRect">
            <a:avLst>
              <a:gd name="adj" fmla="val 12000"/>
            </a:avLst>
          </a:prstGeom>
          <a:solidFill>
            <a:schemeClr val="tx2"/>
          </a:solidFill>
          <a:ln/>
        </p:spPr>
        <p:txBody>
          <a:bodyPr/>
          <a:lstStyle/>
          <a:p>
            <a:endParaRPr/>
          </a:p>
        </p:txBody>
      </p:sp>
      <p:sp>
        <p:nvSpPr>
          <p:cNvPr id="6" name="Text 4"/>
          <p:cNvSpPr txBox="1"/>
          <p:nvPr/>
        </p:nvSpPr>
        <p:spPr>
          <a:xfrm>
            <a:off x="777240" y="1874520"/>
            <a:ext cx="3088538"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Environment</a:t>
            </a:r>
            <a:endParaRPr lang="en-US" sz="1600" dirty="0"/>
          </a:p>
        </p:txBody>
      </p:sp>
      <p:sp>
        <p:nvSpPr>
          <p:cNvPr id="7" name="Text 5"/>
          <p:cNvSpPr txBox="1"/>
          <p:nvPr/>
        </p:nvSpPr>
        <p:spPr>
          <a:xfrm>
            <a:off x="822960" y="2560320"/>
            <a:ext cx="2997098" cy="3108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Two-armed Bernoulli bandits (framework supports up to three arms)</a:t>
            </a:r>
            <a:endParaRPr lang="en-US" sz="1400" dirty="0"/>
          </a:p>
          <a:p>
            <a:pPr marL="177800" indent="-177800">
              <a:spcAft>
                <a:spcPts val="900"/>
              </a:spcAft>
              <a:buSzPct val="100000"/>
              <a:buChar char="•"/>
            </a:pPr>
            <a:r>
              <a:rPr lang="en-US" sz="1400" dirty="0">
                <a:solidFill>
                  <a:schemeClr val="tx1"/>
                </a:solidFill>
              </a:rPr>
              <a:t>Horizon T = 1,000,000 steps per run</a:t>
            </a:r>
            <a:endParaRPr lang="en-US" sz="1400" dirty="0"/>
          </a:p>
          <a:p>
            <a:pPr marL="177800" indent="-177800">
              <a:spcAft>
                <a:spcPts val="900"/>
              </a:spcAft>
              <a:buSzPct val="100000"/>
              <a:buChar char="•"/>
            </a:pPr>
            <a:r>
              <a:rPr lang="en-US" sz="1400" dirty="0">
                <a:solidFill>
                  <a:schemeClr val="tx1"/>
                </a:solidFill>
              </a:rPr>
              <a:t>100 independent trials per algorithm and scenario</a:t>
            </a:r>
            <a:endParaRPr lang="en-US" sz="1400" dirty="0"/>
          </a:p>
          <a:p>
            <a:pPr marL="177800" indent="-177800">
              <a:spcAft>
                <a:spcPts val="900"/>
              </a:spcAft>
              <a:buSzPct val="100000"/>
              <a:buChar char="•"/>
            </a:pPr>
            <a:r>
              <a:rPr lang="en-US" sz="1400" dirty="0">
                <a:solidFill>
                  <a:schemeClr val="tx1"/>
                </a:solidFill>
              </a:rPr>
              <a:t>Checkpoints spaced logarithmically (t = 2, 3, 100, 200, 2·10³, 10⁴ … 10⁶)</a:t>
            </a:r>
            <a:endParaRPr lang="en-US" sz="1400" dirty="0"/>
          </a:p>
          <a:p>
            <a:pPr marL="177800" indent="-177800">
              <a:spcAft>
                <a:spcPts val="900"/>
              </a:spcAft>
              <a:buSzPct val="100000"/>
              <a:buChar char="•"/>
            </a:pPr>
            <a:r>
              <a:rPr lang="en-US" sz="1400" dirty="0">
                <a:solidFill>
                  <a:schemeClr val="tx1"/>
                </a:solidFill>
              </a:rPr>
              <a:t>Little hyperparameter tuning: only ETC (m) and ε-Greedy (ε) are varied</a:t>
            </a:r>
            <a:endParaRPr lang="en-US" sz="1400" dirty="0"/>
          </a:p>
        </p:txBody>
      </p:sp>
      <p:sp>
        <p:nvSpPr>
          <p:cNvPr id="8" name="card"/>
          <p:cNvSpPr/>
          <p:nvPr/>
        </p:nvSpPr>
        <p:spPr>
          <a:xfrm>
            <a:off x="4322978" y="1645920"/>
            <a:ext cx="3545738" cy="41605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9" name="column header"/>
          <p:cNvSpPr/>
          <p:nvPr/>
        </p:nvSpPr>
        <p:spPr>
          <a:xfrm>
            <a:off x="4551578" y="1874520"/>
            <a:ext cx="3088538" cy="457200"/>
          </a:xfrm>
          <a:prstGeom prst="roundRect">
            <a:avLst>
              <a:gd name="adj" fmla="val 12000"/>
            </a:avLst>
          </a:prstGeom>
          <a:solidFill>
            <a:schemeClr val="accent1"/>
          </a:solidFill>
          <a:ln/>
        </p:spPr>
        <p:txBody>
          <a:bodyPr/>
          <a:lstStyle/>
          <a:p>
            <a:endParaRPr/>
          </a:p>
        </p:txBody>
      </p:sp>
      <p:sp>
        <p:nvSpPr>
          <p:cNvPr id="10" name="Text 8"/>
          <p:cNvSpPr txBox="1"/>
          <p:nvPr/>
        </p:nvSpPr>
        <p:spPr>
          <a:xfrm>
            <a:off x="4551578" y="1874520"/>
            <a:ext cx="3088538"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Bias controls</a:t>
            </a:r>
            <a:endParaRPr lang="en-US" sz="1600" dirty="0"/>
          </a:p>
        </p:txBody>
      </p:sp>
      <p:sp>
        <p:nvSpPr>
          <p:cNvPr id="11" name="Text 9"/>
          <p:cNvSpPr txBox="1"/>
          <p:nvPr/>
        </p:nvSpPr>
        <p:spPr>
          <a:xfrm>
            <a:off x="4597298" y="2560320"/>
            <a:ext cx="2997098" cy="3108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Identical initial counts and empirical means</a:t>
            </a:r>
            <a:endParaRPr lang="en-US" sz="1400" dirty="0"/>
          </a:p>
          <a:p>
            <a:pPr marL="177800" indent="-177800">
              <a:spcAft>
                <a:spcPts val="900"/>
              </a:spcAft>
              <a:buSzPct val="100000"/>
              <a:buChar char="•"/>
            </a:pPr>
            <a:r>
              <a:rPr lang="en-US" sz="1400" dirty="0">
                <a:solidFill>
                  <a:schemeClr val="tx1"/>
                </a:solidFill>
              </a:rPr>
              <a:t>Fixed seeds support repeatability in the same environment</a:t>
            </a:r>
            <a:endParaRPr lang="en-US" sz="1400" dirty="0"/>
          </a:p>
          <a:p>
            <a:pPr marL="177800" indent="-177800">
              <a:spcAft>
                <a:spcPts val="900"/>
              </a:spcAft>
              <a:buSzPct val="100000"/>
              <a:buChar char="•"/>
            </a:pPr>
            <a:r>
              <a:rPr lang="en-US" sz="1400" dirty="0">
                <a:solidFill>
                  <a:schemeClr val="tx1"/>
                </a:solidFill>
              </a:rPr>
              <a:t>All arm permutations reduce index-based tie bias</a:t>
            </a:r>
            <a:endParaRPr lang="en-US" sz="1400" dirty="0"/>
          </a:p>
          <a:p>
            <a:pPr marL="177800" indent="-177800">
              <a:spcAft>
                <a:spcPts val="900"/>
              </a:spcAft>
              <a:buSzPct val="100000"/>
              <a:buChar char="•"/>
            </a:pPr>
            <a:r>
              <a:rPr lang="en-US" sz="1400" dirty="0">
                <a:solidFill>
                  <a:schemeClr val="tx1"/>
                </a:solidFill>
              </a:rPr>
              <a:t>One pull per step; UCB-Improved is adapted to this rule</a:t>
            </a:r>
            <a:endParaRPr lang="en-US" sz="1400" dirty="0"/>
          </a:p>
        </p:txBody>
      </p:sp>
      <p:sp>
        <p:nvSpPr>
          <p:cNvPr id="12" name="card"/>
          <p:cNvSpPr/>
          <p:nvPr/>
        </p:nvSpPr>
        <p:spPr>
          <a:xfrm>
            <a:off x="8097317" y="1645920"/>
            <a:ext cx="3545738" cy="41605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3" name="column header"/>
          <p:cNvSpPr/>
          <p:nvPr/>
        </p:nvSpPr>
        <p:spPr>
          <a:xfrm>
            <a:off x="8325917" y="1874520"/>
            <a:ext cx="3088538" cy="457200"/>
          </a:xfrm>
          <a:prstGeom prst="roundRect">
            <a:avLst>
              <a:gd name="adj" fmla="val 12000"/>
            </a:avLst>
          </a:prstGeom>
          <a:solidFill>
            <a:schemeClr val="tx1"/>
          </a:solidFill>
          <a:ln/>
        </p:spPr>
        <p:txBody>
          <a:bodyPr/>
          <a:lstStyle/>
          <a:p>
            <a:endParaRPr/>
          </a:p>
        </p:txBody>
      </p:sp>
      <p:sp>
        <p:nvSpPr>
          <p:cNvPr id="14" name="Text 12"/>
          <p:cNvSpPr txBox="1"/>
          <p:nvPr/>
        </p:nvSpPr>
        <p:spPr>
          <a:xfrm>
            <a:off x="8325917" y="1874520"/>
            <a:ext cx="3088538"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Metrics recorded</a:t>
            </a:r>
            <a:endParaRPr lang="en-US" sz="1600" dirty="0"/>
          </a:p>
        </p:txBody>
      </p:sp>
      <p:sp>
        <p:nvSpPr>
          <p:cNvPr id="15" name="Text 13"/>
          <p:cNvSpPr txBox="1"/>
          <p:nvPr/>
        </p:nvSpPr>
        <p:spPr>
          <a:xfrm>
            <a:off x="8371637" y="2560320"/>
            <a:ext cx="2997098" cy="3108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Cumulative reward and pseudo-regret</a:t>
            </a:r>
            <a:endParaRPr lang="en-US" sz="1400" dirty="0"/>
          </a:p>
          <a:p>
            <a:pPr marL="177800" indent="-177800">
              <a:spcAft>
                <a:spcPts val="900"/>
              </a:spcAft>
              <a:buSzPct val="100000"/>
              <a:buChar char="•"/>
            </a:pPr>
            <a:r>
              <a:rPr lang="en-US" sz="1400" dirty="0">
                <a:solidFill>
                  <a:schemeClr val="tx1"/>
                </a:solidFill>
              </a:rPr>
              <a:t>Suboptimal pulls and 0/1 reward counts</a:t>
            </a:r>
            <a:endParaRPr lang="en-US" sz="1400" dirty="0"/>
          </a:p>
          <a:p>
            <a:pPr marL="177800" indent="-177800">
              <a:spcAft>
                <a:spcPts val="900"/>
              </a:spcAft>
              <a:buSzPct val="100000"/>
              <a:buChar char="•"/>
            </a:pPr>
            <a:r>
              <a:rPr lang="en-US" sz="1400" dirty="0">
                <a:solidFill>
                  <a:schemeClr val="tx1"/>
                </a:solidFill>
              </a:rPr>
              <a:t>Regret VaR: the (1−α) quantile, α = 0.01, 0.05, 0.1</a:t>
            </a:r>
            <a:endParaRPr lang="en-US" sz="1400" dirty="0"/>
          </a:p>
          <a:p>
            <a:pPr marL="177800" indent="-177800">
              <a:spcAft>
                <a:spcPts val="900"/>
              </a:spcAft>
              <a:buSzPct val="100000"/>
              <a:buChar char="•"/>
            </a:pPr>
            <a:r>
              <a:rPr lang="en-US" sz="1400" dirty="0">
                <a:solidFill>
                  <a:schemeClr val="tx1"/>
                </a:solidFill>
              </a:rPr>
              <a:t>Reward-variance χ² test: implementation concern on slide 14</a:t>
            </a:r>
            <a:endParaRPr lang="en-US" sz="1400" dirty="0"/>
          </a:p>
          <a:p>
            <a:pPr marL="177800" indent="-177800">
              <a:spcAft>
                <a:spcPts val="900"/>
              </a:spcAft>
              <a:buSzPct val="100000"/>
              <a:buChar char="•"/>
            </a:pPr>
            <a:r>
              <a:rPr lang="en-US" sz="1400" dirty="0">
                <a:solidFill>
                  <a:schemeClr val="tx1"/>
                </a:solidFill>
              </a:rPr>
              <a:t>Six views: reward, regret, outcomes, regret distribution, VaR, suboptimal ratio</a:t>
            </a:r>
            <a:endParaRPr lang="en-US" sz="1400" dirty="0"/>
          </a:p>
        </p:txBody>
      </p:sp>
      <p:sp>
        <p:nvSpPr>
          <p:cNvPr id="16" name="takeaway strip"/>
          <p:cNvSpPr/>
          <p:nvPr/>
        </p:nvSpPr>
        <p:spPr>
          <a:xfrm>
            <a:off x="548640" y="5943600"/>
            <a:ext cx="11094415" cy="384048"/>
          </a:xfrm>
          <a:prstGeom prst="roundRect">
            <a:avLst>
              <a:gd name="adj" fmla="val 16667"/>
            </a:avLst>
          </a:prstGeom>
          <a:solidFill>
            <a:schemeClr val="accent5"/>
          </a:solidFill>
          <a:ln/>
        </p:spPr>
        <p:txBody>
          <a:bodyPr/>
          <a:lstStyle/>
          <a:p>
            <a:endParaRPr/>
          </a:p>
        </p:txBody>
      </p:sp>
      <p:sp>
        <p:nvSpPr>
          <p:cNvPr id="17" name="Text 15"/>
          <p:cNvSpPr txBox="1"/>
          <p:nvPr/>
        </p:nvSpPr>
        <p:spPr>
          <a:xfrm>
            <a:off x="731520" y="5943600"/>
            <a:ext cx="10728655" cy="384048"/>
          </a:xfrm>
          <a:prstGeom prst="rect">
            <a:avLst/>
          </a:prstGeom>
          <a:noFill/>
          <a:ln/>
        </p:spPr>
        <p:txBody>
          <a:bodyPr wrap="square" lIns="0" tIns="0" rIns="0" bIns="0" rtlCol="0" anchor="ctr"/>
          <a:lstStyle/>
          <a:p>
            <a:pPr marL="0" indent="0">
              <a:buNone/>
            </a:pPr>
            <a:r>
              <a:rPr lang="en-US" sz="1250" dirty="0">
                <a:solidFill>
                  <a:schemeClr val="tx1"/>
                </a:solidFill>
              </a:rPr>
              <a:t>These controls reduce procedural bias. Our partial reproduction uses randomized arm order and its own RNG streams; it omits reward, VaR and χ² outputs.</a:t>
            </a:r>
            <a:endParaRPr lang="en-US" sz="125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6</a:t>
            </a:fld>
            <a:endParaRPr lang="en-US"/>
          </a:p>
        </p:txBody>
      </p:sp>
      <p:sp>
        <p:nvSpPr>
          <p:cNvPr id="26" name="TextBox 25">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Paper methods: §3.1–3.6. VaR code uses the (1−α) quantile of total regret.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SCENARIOS</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Three controlled Bernoulli scenarios vary gap and uncertainty</a:t>
            </a:r>
            <a:endParaRPr lang="en-US" sz="2800" dirty="0"/>
          </a:p>
        </p:txBody>
      </p:sp>
      <p:sp>
        <p:nvSpPr>
          <p:cNvPr id="4" name="card"/>
          <p:cNvSpPr/>
          <p:nvPr/>
        </p:nvSpPr>
        <p:spPr>
          <a:xfrm>
            <a:off x="548640" y="1645920"/>
            <a:ext cx="3545738" cy="384048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scenario badge"/>
          <p:cNvSpPr/>
          <p:nvPr/>
        </p:nvSpPr>
        <p:spPr>
          <a:xfrm>
            <a:off x="777240" y="1874520"/>
            <a:ext cx="640080" cy="640080"/>
          </a:xfrm>
          <a:prstGeom prst="ellipse">
            <a:avLst/>
          </a:prstGeom>
          <a:solidFill>
            <a:schemeClr val="tx2"/>
          </a:solidFill>
          <a:ln/>
        </p:spPr>
        <p:txBody>
          <a:bodyPr/>
          <a:lstStyle/>
          <a:p>
            <a:endParaRPr/>
          </a:p>
        </p:txBody>
      </p:sp>
      <p:sp>
        <p:nvSpPr>
          <p:cNvPr id="6" name="Text 4"/>
          <p:cNvSpPr txBox="1"/>
          <p:nvPr/>
        </p:nvSpPr>
        <p:spPr>
          <a:xfrm>
            <a:off x="777240" y="1874520"/>
            <a:ext cx="640080" cy="64008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7" name="Text 5"/>
          <p:cNvSpPr txBox="1"/>
          <p:nvPr/>
        </p:nvSpPr>
        <p:spPr>
          <a:xfrm>
            <a:off x="1600200" y="1874520"/>
            <a:ext cx="2311298" cy="640080"/>
          </a:xfrm>
          <a:prstGeom prst="rect">
            <a:avLst/>
          </a:prstGeom>
          <a:noFill/>
          <a:ln/>
        </p:spPr>
        <p:txBody>
          <a:bodyPr wrap="square" lIns="0" tIns="0" rIns="0" bIns="0" rtlCol="0" anchor="ctr"/>
          <a:lstStyle/>
          <a:p>
            <a:pPr marL="0" indent="0">
              <a:buNone/>
            </a:pPr>
            <a:r>
              <a:rPr lang="en-US" sz="1500" b="1" dirty="0">
                <a:solidFill>
                  <a:schemeClr val="tx1"/>
                </a:solidFill>
                <a:latin typeface="Cambria" pitchFamily="34" charset="0"/>
                <a:ea typeface="Cambria" pitchFamily="34" charset="-122"/>
                <a:cs typeface="Cambria" pitchFamily="34" charset="-120"/>
              </a:rPr>
              <a:t>Baseline: clear gap</a:t>
            </a:r>
            <a:endParaRPr lang="en-US" sz="1500" dirty="0"/>
          </a:p>
        </p:txBody>
      </p:sp>
      <p:sp>
        <p:nvSpPr>
          <p:cNvPr id="8" name="Text 6"/>
          <p:cNvSpPr txBox="1"/>
          <p:nvPr/>
        </p:nvSpPr>
        <p:spPr>
          <a:xfrm>
            <a:off x="777240" y="274320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1   p = 0.8</a:t>
            </a:r>
            <a:endParaRPr lang="en-US" sz="1250" dirty="0"/>
          </a:p>
        </p:txBody>
      </p:sp>
      <p:sp>
        <p:nvSpPr>
          <p:cNvPr id="9" name="bar track"/>
          <p:cNvSpPr/>
          <p:nvPr/>
        </p:nvSpPr>
        <p:spPr>
          <a:xfrm>
            <a:off x="2560320" y="2816352"/>
            <a:ext cx="1259738" cy="219456"/>
          </a:xfrm>
          <a:prstGeom prst="rect">
            <a:avLst/>
          </a:prstGeom>
          <a:solidFill>
            <a:schemeClr val="accent3"/>
          </a:solidFill>
          <a:ln/>
        </p:spPr>
        <p:txBody>
          <a:bodyPr/>
          <a:lstStyle/>
          <a:p>
            <a:endParaRPr/>
          </a:p>
        </p:txBody>
      </p:sp>
      <p:sp>
        <p:nvSpPr>
          <p:cNvPr id="10" name="bar"/>
          <p:cNvSpPr/>
          <p:nvPr/>
        </p:nvSpPr>
        <p:spPr>
          <a:xfrm>
            <a:off x="2560320" y="2816352"/>
            <a:ext cx="1007791" cy="219456"/>
          </a:xfrm>
          <a:prstGeom prst="rect">
            <a:avLst/>
          </a:prstGeom>
          <a:solidFill>
            <a:schemeClr val="accent4"/>
          </a:solidFill>
          <a:ln/>
        </p:spPr>
        <p:txBody>
          <a:bodyPr/>
          <a:lstStyle/>
          <a:p>
            <a:endParaRPr/>
          </a:p>
        </p:txBody>
      </p:sp>
      <p:sp>
        <p:nvSpPr>
          <p:cNvPr id="11" name="Text 9"/>
          <p:cNvSpPr txBox="1"/>
          <p:nvPr/>
        </p:nvSpPr>
        <p:spPr>
          <a:xfrm>
            <a:off x="777240" y="324612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2   p = 0.9</a:t>
            </a:r>
            <a:endParaRPr lang="en-US" sz="1250" dirty="0"/>
          </a:p>
        </p:txBody>
      </p:sp>
      <p:sp>
        <p:nvSpPr>
          <p:cNvPr id="12" name="bar track"/>
          <p:cNvSpPr/>
          <p:nvPr/>
        </p:nvSpPr>
        <p:spPr>
          <a:xfrm>
            <a:off x="2560320" y="3319272"/>
            <a:ext cx="1259738" cy="219456"/>
          </a:xfrm>
          <a:prstGeom prst="rect">
            <a:avLst/>
          </a:prstGeom>
          <a:solidFill>
            <a:schemeClr val="accent3"/>
          </a:solidFill>
          <a:ln/>
        </p:spPr>
        <p:txBody>
          <a:bodyPr/>
          <a:lstStyle/>
          <a:p>
            <a:endParaRPr/>
          </a:p>
        </p:txBody>
      </p:sp>
      <p:sp>
        <p:nvSpPr>
          <p:cNvPr id="13" name="bar"/>
          <p:cNvSpPr/>
          <p:nvPr/>
        </p:nvSpPr>
        <p:spPr>
          <a:xfrm>
            <a:off x="2560320" y="3319272"/>
            <a:ext cx="1133765" cy="219456"/>
          </a:xfrm>
          <a:prstGeom prst="rect">
            <a:avLst/>
          </a:prstGeom>
          <a:solidFill>
            <a:schemeClr val="tx2"/>
          </a:solidFill>
          <a:ln/>
        </p:spPr>
        <p:txBody>
          <a:bodyPr/>
          <a:lstStyle/>
          <a:p>
            <a:endParaRPr/>
          </a:p>
        </p:txBody>
      </p:sp>
      <p:sp>
        <p:nvSpPr>
          <p:cNvPr id="14" name="Text 12"/>
          <p:cNvSpPr txBox="1"/>
          <p:nvPr/>
        </p:nvSpPr>
        <p:spPr>
          <a:xfrm>
            <a:off x="777240" y="384048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Gap Δ</a:t>
            </a:r>
            <a:endParaRPr lang="en-US" sz="1200" dirty="0"/>
          </a:p>
        </p:txBody>
      </p:sp>
      <p:sp>
        <p:nvSpPr>
          <p:cNvPr id="15" name="Text 13"/>
          <p:cNvSpPr txBox="1"/>
          <p:nvPr/>
        </p:nvSpPr>
        <p:spPr>
          <a:xfrm>
            <a:off x="2240280" y="384048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0.1</a:t>
            </a:r>
            <a:endParaRPr lang="en-US" sz="1400" dirty="0"/>
          </a:p>
        </p:txBody>
      </p:sp>
      <p:sp>
        <p:nvSpPr>
          <p:cNvPr id="16" name="Text 14"/>
          <p:cNvSpPr txBox="1"/>
          <p:nvPr/>
        </p:nvSpPr>
        <p:spPr>
          <a:xfrm>
            <a:off x="777240" y="434340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Variance p(1−p)</a:t>
            </a:r>
            <a:endParaRPr lang="en-US" sz="1200" dirty="0"/>
          </a:p>
        </p:txBody>
      </p:sp>
      <p:sp>
        <p:nvSpPr>
          <p:cNvPr id="17" name="Text 15"/>
          <p:cNvSpPr txBox="1"/>
          <p:nvPr/>
        </p:nvSpPr>
        <p:spPr>
          <a:xfrm>
            <a:off x="2240280" y="434340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0.16 / 0.09</a:t>
            </a:r>
            <a:endParaRPr lang="en-US" sz="1400" dirty="0"/>
          </a:p>
        </p:txBody>
      </p:sp>
      <p:sp>
        <p:nvSpPr>
          <p:cNvPr id="18" name="Text 16"/>
          <p:cNvSpPr txBox="1"/>
          <p:nvPr/>
        </p:nvSpPr>
        <p:spPr>
          <a:xfrm>
            <a:off x="777240" y="4846320"/>
            <a:ext cx="3088538" cy="548640"/>
          </a:xfrm>
          <a:prstGeom prst="rect">
            <a:avLst/>
          </a:prstGeom>
          <a:noFill/>
          <a:ln/>
        </p:spPr>
        <p:txBody>
          <a:bodyPr wrap="square" lIns="0" tIns="0" rIns="0" bIns="0" rtlCol="0" anchor="t"/>
          <a:lstStyle/>
          <a:p>
            <a:pPr marL="0" indent="0">
              <a:buNone/>
            </a:pPr>
            <a:r>
              <a:rPr lang="en-US" sz="1300" dirty="0">
                <a:solidFill>
                  <a:schemeClr val="tx1"/>
                </a:solidFill>
              </a:rPr>
              <a:t>How fast does each method exploit an easily separable pair?</a:t>
            </a:r>
            <a:endParaRPr lang="en-US" sz="1300" dirty="0"/>
          </a:p>
        </p:txBody>
      </p:sp>
      <p:sp>
        <p:nvSpPr>
          <p:cNvPr id="19" name="card"/>
          <p:cNvSpPr/>
          <p:nvPr/>
        </p:nvSpPr>
        <p:spPr>
          <a:xfrm>
            <a:off x="4322978" y="1645920"/>
            <a:ext cx="3545738" cy="384048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0" name="scenario badge"/>
          <p:cNvSpPr/>
          <p:nvPr/>
        </p:nvSpPr>
        <p:spPr>
          <a:xfrm>
            <a:off x="4551578" y="1874520"/>
            <a:ext cx="640080" cy="640080"/>
          </a:xfrm>
          <a:prstGeom prst="ellipse">
            <a:avLst/>
          </a:prstGeom>
          <a:solidFill>
            <a:schemeClr val="tx2"/>
          </a:solidFill>
          <a:ln/>
        </p:spPr>
        <p:txBody>
          <a:bodyPr/>
          <a:lstStyle/>
          <a:p>
            <a:endParaRPr/>
          </a:p>
        </p:txBody>
      </p:sp>
      <p:sp>
        <p:nvSpPr>
          <p:cNvPr id="21" name="Text 19"/>
          <p:cNvSpPr txBox="1"/>
          <p:nvPr/>
        </p:nvSpPr>
        <p:spPr>
          <a:xfrm>
            <a:off x="4551578" y="1874520"/>
            <a:ext cx="640080" cy="64008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B</a:t>
            </a:r>
            <a:endParaRPr lang="en-US" sz="2600" dirty="0"/>
          </a:p>
        </p:txBody>
      </p:sp>
      <p:sp>
        <p:nvSpPr>
          <p:cNvPr id="22" name="Text 20"/>
          <p:cNvSpPr txBox="1"/>
          <p:nvPr/>
        </p:nvSpPr>
        <p:spPr>
          <a:xfrm>
            <a:off x="5374538" y="1874520"/>
            <a:ext cx="2311298" cy="640080"/>
          </a:xfrm>
          <a:prstGeom prst="rect">
            <a:avLst/>
          </a:prstGeom>
          <a:noFill/>
          <a:ln/>
        </p:spPr>
        <p:txBody>
          <a:bodyPr wrap="square" lIns="0" tIns="0" rIns="0" bIns="0" rtlCol="0" anchor="ctr"/>
          <a:lstStyle/>
          <a:p>
            <a:pPr marL="0" indent="0">
              <a:buNone/>
            </a:pPr>
            <a:r>
              <a:rPr lang="en-US" sz="1500" b="1" dirty="0">
                <a:solidFill>
                  <a:schemeClr val="tx1"/>
                </a:solidFill>
                <a:latin typeface="Cambria" pitchFamily="34" charset="0"/>
                <a:ea typeface="Cambria" pitchFamily="34" charset="-122"/>
                <a:cs typeface="Cambria" pitchFamily="34" charset="-120"/>
              </a:rPr>
              <a:t>Low-variance micro-gap</a:t>
            </a:r>
            <a:endParaRPr lang="en-US" sz="1500" dirty="0"/>
          </a:p>
        </p:txBody>
      </p:sp>
      <p:sp>
        <p:nvSpPr>
          <p:cNvPr id="23" name="Text 21"/>
          <p:cNvSpPr txBox="1"/>
          <p:nvPr/>
        </p:nvSpPr>
        <p:spPr>
          <a:xfrm>
            <a:off x="4551578" y="274320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1   p = 0.895</a:t>
            </a:r>
            <a:endParaRPr lang="en-US" sz="1250" dirty="0"/>
          </a:p>
        </p:txBody>
      </p:sp>
      <p:sp>
        <p:nvSpPr>
          <p:cNvPr id="24" name="bar track"/>
          <p:cNvSpPr/>
          <p:nvPr/>
        </p:nvSpPr>
        <p:spPr>
          <a:xfrm>
            <a:off x="6334658" y="2816352"/>
            <a:ext cx="1259738" cy="219456"/>
          </a:xfrm>
          <a:prstGeom prst="rect">
            <a:avLst/>
          </a:prstGeom>
          <a:solidFill>
            <a:schemeClr val="accent3"/>
          </a:solidFill>
          <a:ln/>
        </p:spPr>
        <p:txBody>
          <a:bodyPr/>
          <a:lstStyle/>
          <a:p>
            <a:endParaRPr/>
          </a:p>
        </p:txBody>
      </p:sp>
      <p:sp>
        <p:nvSpPr>
          <p:cNvPr id="25" name="bar"/>
          <p:cNvSpPr/>
          <p:nvPr/>
        </p:nvSpPr>
        <p:spPr>
          <a:xfrm>
            <a:off x="6334658" y="2816352"/>
            <a:ext cx="1127466" cy="219456"/>
          </a:xfrm>
          <a:prstGeom prst="rect">
            <a:avLst/>
          </a:prstGeom>
          <a:solidFill>
            <a:schemeClr val="accent4"/>
          </a:solidFill>
          <a:ln/>
        </p:spPr>
        <p:txBody>
          <a:bodyPr/>
          <a:lstStyle/>
          <a:p>
            <a:endParaRPr/>
          </a:p>
        </p:txBody>
      </p:sp>
      <p:sp>
        <p:nvSpPr>
          <p:cNvPr id="26" name="Text 24"/>
          <p:cNvSpPr txBox="1"/>
          <p:nvPr/>
        </p:nvSpPr>
        <p:spPr>
          <a:xfrm>
            <a:off x="4551578" y="324612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2   p = 0.9</a:t>
            </a:r>
            <a:endParaRPr lang="en-US" sz="1250" dirty="0"/>
          </a:p>
        </p:txBody>
      </p:sp>
      <p:sp>
        <p:nvSpPr>
          <p:cNvPr id="27" name="bar track"/>
          <p:cNvSpPr/>
          <p:nvPr/>
        </p:nvSpPr>
        <p:spPr>
          <a:xfrm>
            <a:off x="6334658" y="3319272"/>
            <a:ext cx="1259738" cy="219456"/>
          </a:xfrm>
          <a:prstGeom prst="rect">
            <a:avLst/>
          </a:prstGeom>
          <a:solidFill>
            <a:schemeClr val="accent3"/>
          </a:solidFill>
          <a:ln/>
        </p:spPr>
        <p:txBody>
          <a:bodyPr/>
          <a:lstStyle/>
          <a:p>
            <a:endParaRPr/>
          </a:p>
        </p:txBody>
      </p:sp>
      <p:sp>
        <p:nvSpPr>
          <p:cNvPr id="28" name="bar"/>
          <p:cNvSpPr/>
          <p:nvPr/>
        </p:nvSpPr>
        <p:spPr>
          <a:xfrm>
            <a:off x="6334658" y="3319272"/>
            <a:ext cx="1133765" cy="219456"/>
          </a:xfrm>
          <a:prstGeom prst="rect">
            <a:avLst/>
          </a:prstGeom>
          <a:solidFill>
            <a:schemeClr val="tx2"/>
          </a:solidFill>
          <a:ln/>
        </p:spPr>
        <p:txBody>
          <a:bodyPr/>
          <a:lstStyle/>
          <a:p>
            <a:endParaRPr/>
          </a:p>
        </p:txBody>
      </p:sp>
      <p:sp>
        <p:nvSpPr>
          <p:cNvPr id="29" name="Text 27"/>
          <p:cNvSpPr txBox="1"/>
          <p:nvPr/>
        </p:nvSpPr>
        <p:spPr>
          <a:xfrm>
            <a:off x="4551578" y="384048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Gap Δ</a:t>
            </a:r>
            <a:endParaRPr lang="en-US" sz="1200" dirty="0"/>
          </a:p>
        </p:txBody>
      </p:sp>
      <p:sp>
        <p:nvSpPr>
          <p:cNvPr id="30" name="Text 28"/>
          <p:cNvSpPr txBox="1"/>
          <p:nvPr/>
        </p:nvSpPr>
        <p:spPr>
          <a:xfrm>
            <a:off x="6014618" y="384048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0.005</a:t>
            </a:r>
            <a:endParaRPr lang="en-US" sz="1400" dirty="0"/>
          </a:p>
        </p:txBody>
      </p:sp>
      <p:sp>
        <p:nvSpPr>
          <p:cNvPr id="31" name="Text 29"/>
          <p:cNvSpPr txBox="1"/>
          <p:nvPr/>
        </p:nvSpPr>
        <p:spPr>
          <a:xfrm>
            <a:off x="4551578" y="434340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Variance p(1−p)</a:t>
            </a:r>
            <a:endParaRPr lang="en-US" sz="1200" dirty="0"/>
          </a:p>
        </p:txBody>
      </p:sp>
      <p:sp>
        <p:nvSpPr>
          <p:cNvPr id="32" name="Text 30"/>
          <p:cNvSpPr txBox="1"/>
          <p:nvPr/>
        </p:nvSpPr>
        <p:spPr>
          <a:xfrm>
            <a:off x="6014618" y="434340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0.093975 / 0.09</a:t>
            </a:r>
            <a:endParaRPr lang="en-US" sz="1400" dirty="0"/>
          </a:p>
        </p:txBody>
      </p:sp>
      <p:sp>
        <p:nvSpPr>
          <p:cNvPr id="33" name="Text 31"/>
          <p:cNvSpPr txBox="1"/>
          <p:nvPr/>
        </p:nvSpPr>
        <p:spPr>
          <a:xfrm>
            <a:off x="4551578" y="4846320"/>
            <a:ext cx="3088538" cy="548640"/>
          </a:xfrm>
          <a:prstGeom prst="rect">
            <a:avLst/>
          </a:prstGeom>
          <a:noFill/>
          <a:ln/>
        </p:spPr>
        <p:txBody>
          <a:bodyPr wrap="square" lIns="0" tIns="0" rIns="0" bIns="0" rtlCol="0" anchor="t"/>
          <a:lstStyle/>
          <a:p>
            <a:pPr marL="0" indent="0">
              <a:buNone/>
            </a:pPr>
            <a:r>
              <a:rPr lang="en-US" sz="1300" dirty="0">
                <a:solidFill>
                  <a:schemeClr val="tx1"/>
                </a:solidFill>
              </a:rPr>
              <a:t>Can algorithms separate near-identical arms with stable rewards?</a:t>
            </a:r>
            <a:endParaRPr lang="en-US" sz="1300" dirty="0"/>
          </a:p>
        </p:txBody>
      </p:sp>
      <p:sp>
        <p:nvSpPr>
          <p:cNvPr id="34" name="card"/>
          <p:cNvSpPr/>
          <p:nvPr/>
        </p:nvSpPr>
        <p:spPr>
          <a:xfrm>
            <a:off x="8097317" y="1645920"/>
            <a:ext cx="3545738" cy="384048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35" name="scenario badge"/>
          <p:cNvSpPr/>
          <p:nvPr/>
        </p:nvSpPr>
        <p:spPr>
          <a:xfrm>
            <a:off x="8325917" y="1874520"/>
            <a:ext cx="640080" cy="640080"/>
          </a:xfrm>
          <a:prstGeom prst="ellipse">
            <a:avLst/>
          </a:prstGeom>
          <a:solidFill>
            <a:schemeClr val="accent1"/>
          </a:solidFill>
          <a:ln/>
        </p:spPr>
        <p:txBody>
          <a:bodyPr/>
          <a:lstStyle/>
          <a:p>
            <a:endParaRPr/>
          </a:p>
        </p:txBody>
      </p:sp>
      <p:sp>
        <p:nvSpPr>
          <p:cNvPr id="36" name="Text 34"/>
          <p:cNvSpPr txBox="1"/>
          <p:nvPr/>
        </p:nvSpPr>
        <p:spPr>
          <a:xfrm>
            <a:off x="8325917" y="1874520"/>
            <a:ext cx="640080" cy="64008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37" name="Text 35"/>
          <p:cNvSpPr txBox="1"/>
          <p:nvPr/>
        </p:nvSpPr>
        <p:spPr>
          <a:xfrm>
            <a:off x="9148877" y="1874520"/>
            <a:ext cx="2311298" cy="640080"/>
          </a:xfrm>
          <a:prstGeom prst="rect">
            <a:avLst/>
          </a:prstGeom>
          <a:noFill/>
          <a:ln/>
        </p:spPr>
        <p:txBody>
          <a:bodyPr wrap="square" lIns="0" tIns="0" rIns="0" bIns="0" rtlCol="0" anchor="ctr"/>
          <a:lstStyle/>
          <a:p>
            <a:pPr marL="0" indent="0">
              <a:buNone/>
            </a:pPr>
            <a:r>
              <a:rPr lang="en-US" sz="1500" b="1" dirty="0">
                <a:solidFill>
                  <a:schemeClr val="tx1"/>
                </a:solidFill>
                <a:latin typeface="Cambria" pitchFamily="34" charset="0"/>
                <a:ea typeface="Cambria" pitchFamily="34" charset="-122"/>
                <a:cs typeface="Cambria" pitchFamily="34" charset="-120"/>
              </a:rPr>
              <a:t>Higher variance than B</a:t>
            </a:r>
            <a:endParaRPr lang="en-US" sz="1500" dirty="0"/>
          </a:p>
        </p:txBody>
      </p:sp>
      <p:sp>
        <p:nvSpPr>
          <p:cNvPr id="38" name="Text 36"/>
          <p:cNvSpPr txBox="1"/>
          <p:nvPr/>
        </p:nvSpPr>
        <p:spPr>
          <a:xfrm>
            <a:off x="8325917" y="274320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1   p = 0.89</a:t>
            </a:r>
            <a:endParaRPr lang="en-US" sz="1250" dirty="0"/>
          </a:p>
        </p:txBody>
      </p:sp>
      <p:sp>
        <p:nvSpPr>
          <p:cNvPr id="39" name="bar track"/>
          <p:cNvSpPr/>
          <p:nvPr/>
        </p:nvSpPr>
        <p:spPr>
          <a:xfrm>
            <a:off x="10108997" y="2816352"/>
            <a:ext cx="1259738" cy="219456"/>
          </a:xfrm>
          <a:prstGeom prst="rect">
            <a:avLst/>
          </a:prstGeom>
          <a:solidFill>
            <a:schemeClr val="accent3"/>
          </a:solidFill>
          <a:ln/>
        </p:spPr>
        <p:txBody>
          <a:bodyPr/>
          <a:lstStyle/>
          <a:p>
            <a:endParaRPr/>
          </a:p>
        </p:txBody>
      </p:sp>
      <p:sp>
        <p:nvSpPr>
          <p:cNvPr id="40" name="bar"/>
          <p:cNvSpPr/>
          <p:nvPr/>
        </p:nvSpPr>
        <p:spPr>
          <a:xfrm>
            <a:off x="10108997" y="2816352"/>
            <a:ext cx="1121167" cy="219456"/>
          </a:xfrm>
          <a:prstGeom prst="rect">
            <a:avLst/>
          </a:prstGeom>
          <a:solidFill>
            <a:schemeClr val="accent4"/>
          </a:solidFill>
          <a:ln/>
        </p:spPr>
        <p:txBody>
          <a:bodyPr/>
          <a:lstStyle/>
          <a:p>
            <a:endParaRPr/>
          </a:p>
        </p:txBody>
      </p:sp>
      <p:sp>
        <p:nvSpPr>
          <p:cNvPr id="41" name="Text 39"/>
          <p:cNvSpPr txBox="1"/>
          <p:nvPr/>
        </p:nvSpPr>
        <p:spPr>
          <a:xfrm>
            <a:off x="8325917" y="3246120"/>
            <a:ext cx="1737360" cy="365760"/>
          </a:xfrm>
          <a:prstGeom prst="rect">
            <a:avLst/>
          </a:prstGeom>
          <a:noFill/>
          <a:ln/>
        </p:spPr>
        <p:txBody>
          <a:bodyPr wrap="square" lIns="0" tIns="0" rIns="0" bIns="0" rtlCol="0" anchor="ctr"/>
          <a:lstStyle/>
          <a:p>
            <a:pPr marL="0" indent="0">
              <a:buNone/>
            </a:pPr>
            <a:r>
              <a:rPr lang="en-US" sz="1250" dirty="0">
                <a:solidFill>
                  <a:schemeClr val="tx1"/>
                </a:solidFill>
              </a:rPr>
              <a:t>Arm 2   p = 0.895</a:t>
            </a:r>
            <a:endParaRPr lang="en-US" sz="1250" dirty="0"/>
          </a:p>
        </p:txBody>
      </p:sp>
      <p:sp>
        <p:nvSpPr>
          <p:cNvPr id="42" name="bar track"/>
          <p:cNvSpPr/>
          <p:nvPr/>
        </p:nvSpPr>
        <p:spPr>
          <a:xfrm>
            <a:off x="10108997" y="3319272"/>
            <a:ext cx="1259738" cy="219456"/>
          </a:xfrm>
          <a:prstGeom prst="rect">
            <a:avLst/>
          </a:prstGeom>
          <a:solidFill>
            <a:schemeClr val="accent3"/>
          </a:solidFill>
          <a:ln/>
        </p:spPr>
        <p:txBody>
          <a:bodyPr/>
          <a:lstStyle/>
          <a:p>
            <a:endParaRPr/>
          </a:p>
        </p:txBody>
      </p:sp>
      <p:sp>
        <p:nvSpPr>
          <p:cNvPr id="43" name="bar"/>
          <p:cNvSpPr/>
          <p:nvPr/>
        </p:nvSpPr>
        <p:spPr>
          <a:xfrm>
            <a:off x="10108997" y="3319272"/>
            <a:ext cx="1127466" cy="219456"/>
          </a:xfrm>
          <a:prstGeom prst="rect">
            <a:avLst/>
          </a:prstGeom>
          <a:solidFill>
            <a:schemeClr val="tx2"/>
          </a:solidFill>
          <a:ln/>
        </p:spPr>
        <p:txBody>
          <a:bodyPr/>
          <a:lstStyle/>
          <a:p>
            <a:endParaRPr/>
          </a:p>
        </p:txBody>
      </p:sp>
      <p:sp>
        <p:nvSpPr>
          <p:cNvPr id="44" name="Text 42"/>
          <p:cNvSpPr txBox="1"/>
          <p:nvPr/>
        </p:nvSpPr>
        <p:spPr>
          <a:xfrm>
            <a:off x="8325917" y="384048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Gap Δ</a:t>
            </a:r>
            <a:endParaRPr lang="en-US" sz="1200" dirty="0"/>
          </a:p>
        </p:txBody>
      </p:sp>
      <p:sp>
        <p:nvSpPr>
          <p:cNvPr id="45" name="Text 43"/>
          <p:cNvSpPr txBox="1"/>
          <p:nvPr/>
        </p:nvSpPr>
        <p:spPr>
          <a:xfrm>
            <a:off x="9788957" y="384048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0.005</a:t>
            </a:r>
            <a:endParaRPr lang="en-US" sz="1400" dirty="0"/>
          </a:p>
        </p:txBody>
      </p:sp>
      <p:sp>
        <p:nvSpPr>
          <p:cNvPr id="46" name="Text 44"/>
          <p:cNvSpPr txBox="1"/>
          <p:nvPr/>
        </p:nvSpPr>
        <p:spPr>
          <a:xfrm>
            <a:off x="8325917" y="4343400"/>
            <a:ext cx="1463040" cy="365760"/>
          </a:xfrm>
          <a:prstGeom prst="rect">
            <a:avLst/>
          </a:prstGeom>
          <a:noFill/>
          <a:ln/>
        </p:spPr>
        <p:txBody>
          <a:bodyPr wrap="square" lIns="0" tIns="0" rIns="0" bIns="0" rtlCol="0" anchor="ctr"/>
          <a:lstStyle/>
          <a:p>
            <a:pPr marL="0" indent="0">
              <a:buNone/>
            </a:pPr>
            <a:r>
              <a:rPr lang="en-US" sz="1200" b="1" dirty="0">
                <a:solidFill>
                  <a:schemeClr val="accent2"/>
                </a:solidFill>
              </a:rPr>
              <a:t>Variance p(1−p)</a:t>
            </a:r>
            <a:endParaRPr lang="en-US" sz="1200" dirty="0"/>
          </a:p>
        </p:txBody>
      </p:sp>
      <p:sp>
        <p:nvSpPr>
          <p:cNvPr id="47" name="Text 45"/>
          <p:cNvSpPr txBox="1"/>
          <p:nvPr/>
        </p:nvSpPr>
        <p:spPr>
          <a:xfrm>
            <a:off x="9788957" y="4343400"/>
            <a:ext cx="1716938" cy="365760"/>
          </a:xfrm>
          <a:prstGeom prst="rect">
            <a:avLst/>
          </a:prstGeom>
          <a:noFill/>
          <a:ln/>
        </p:spPr>
        <p:txBody>
          <a:bodyPr wrap="square" lIns="0" tIns="0" rIns="0" bIns="0" rtlCol="0" anchor="ctr"/>
          <a:lstStyle/>
          <a:p>
            <a:pPr marL="0" indent="0">
              <a:buNone/>
            </a:pPr>
            <a:r>
              <a:rPr lang="en-US" sz="1400" b="1" dirty="0">
                <a:solidFill>
                  <a:schemeClr val="tx1"/>
                </a:solidFill>
                <a:latin typeface="Cambria" pitchFamily="34" charset="0"/>
                <a:ea typeface="Cambria" pitchFamily="34" charset="-122"/>
                <a:cs typeface="Cambria" pitchFamily="34" charset="-120"/>
              </a:rPr>
              <a:t>0.0979 / 0.093975</a:t>
            </a:r>
            <a:endParaRPr lang="en-US" sz="1400" dirty="0"/>
          </a:p>
        </p:txBody>
      </p:sp>
      <p:sp>
        <p:nvSpPr>
          <p:cNvPr id="48" name="Text 46"/>
          <p:cNvSpPr txBox="1"/>
          <p:nvPr/>
        </p:nvSpPr>
        <p:spPr>
          <a:xfrm>
            <a:off x="8325917" y="4846320"/>
            <a:ext cx="3088538" cy="548640"/>
          </a:xfrm>
          <a:prstGeom prst="rect">
            <a:avLst/>
          </a:prstGeom>
          <a:noFill/>
          <a:ln/>
        </p:spPr>
        <p:txBody>
          <a:bodyPr wrap="square" lIns="0" tIns="0" rIns="0" bIns="0" rtlCol="0" anchor="t"/>
          <a:lstStyle/>
          <a:p>
            <a:pPr marL="0" indent="0">
              <a:buNone/>
            </a:pPr>
            <a:r>
              <a:rPr lang="en-US" sz="1300" dirty="0">
                <a:solidFill>
                  <a:schemeClr val="tx1"/>
                </a:solidFill>
              </a:rPr>
              <a:t>Same gap as B, with slightly higher Bernoulli variances.</a:t>
            </a:r>
            <a:endParaRPr lang="en-US" sz="1300" dirty="0"/>
          </a:p>
        </p:txBody>
      </p:sp>
      <p:sp>
        <p:nvSpPr>
          <p:cNvPr id="49" name="rationale strip"/>
          <p:cNvSpPr/>
          <p:nvPr/>
        </p:nvSpPr>
        <p:spPr>
          <a:xfrm>
            <a:off x="548640" y="5669280"/>
            <a:ext cx="11094415" cy="640080"/>
          </a:xfrm>
          <a:prstGeom prst="roundRect">
            <a:avLst>
              <a:gd name="adj" fmla="val 10000"/>
            </a:avLst>
          </a:prstGeom>
          <a:solidFill>
            <a:schemeClr val="accent6"/>
          </a:solidFill>
          <a:ln/>
        </p:spPr>
        <p:txBody>
          <a:bodyPr/>
          <a:lstStyle/>
          <a:p>
            <a:endParaRPr/>
          </a:p>
        </p:txBody>
      </p:sp>
      <p:sp>
        <p:nvSpPr>
          <p:cNvPr id="50" name="Text 48"/>
          <p:cNvSpPr txBox="1"/>
          <p:nvPr/>
        </p:nvSpPr>
        <p:spPr>
          <a:xfrm>
            <a:off x="731520" y="5669280"/>
            <a:ext cx="10728655" cy="640080"/>
          </a:xfrm>
          <a:prstGeom prst="rect">
            <a:avLst/>
          </a:prstGeom>
          <a:noFill/>
          <a:ln/>
        </p:spPr>
        <p:txBody>
          <a:bodyPr wrap="square" lIns="0" tIns="0" rIns="0" bIns="0" rtlCol="0" anchor="ctr"/>
          <a:lstStyle/>
          <a:p>
            <a:pPr marL="0" indent="0">
              <a:buNone/>
            </a:pPr>
            <a:r>
              <a:rPr lang="en-US" sz="1250" dirty="0">
                <a:solidFill>
                  <a:schemeClr val="tx1"/>
                </a:solidFill>
              </a:rPr>
              <a:t>B and C keep Δ = 0.005 while changing means and variances. Since Bernoulli variance equals p(1−p), this does not vary variance independently. “Higher variance” is relative to B.</a:t>
            </a:r>
            <a:endParaRPr lang="en-US" sz="1250" dirty="0"/>
          </a:p>
        </p:txBody>
      </p:sp>
      <p:sp>
        <p:nvSpPr>
          <p:cNvPr id="51"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RESULTS REPORTED IN THE PAPER</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Reported best ETC settings lead; UCB-Tuned leads the defaults</a:t>
            </a:r>
            <a:endParaRPr lang="en-US" sz="2800" dirty="0"/>
          </a:p>
        </p:txBody>
      </p:sp>
      <p:sp>
        <p:nvSpPr>
          <p:cNvPr id="4" name="card"/>
          <p:cNvSpPr/>
          <p:nvPr/>
        </p:nvSpPr>
        <p:spPr>
          <a:xfrm>
            <a:off x="548640" y="1645920"/>
            <a:ext cx="3545738" cy="39319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Text 3"/>
          <p:cNvSpPr txBox="1"/>
          <p:nvPr/>
        </p:nvSpPr>
        <p:spPr>
          <a:xfrm>
            <a:off x="777240" y="1828800"/>
            <a:ext cx="3088538" cy="320040"/>
          </a:xfrm>
          <a:prstGeom prst="rect">
            <a:avLst/>
          </a:prstGeom>
          <a:noFill/>
          <a:ln/>
        </p:spPr>
        <p:txBody>
          <a:bodyPr wrap="square" lIns="0" tIns="0" rIns="0" bIns="0" rtlCol="0" anchor="t"/>
          <a:lstStyle/>
          <a:p>
            <a:pPr marL="0" indent="0">
              <a:buNone/>
            </a:pPr>
            <a:r>
              <a:rPr lang="en-US" sz="1400" b="1" dirty="0">
                <a:solidFill>
                  <a:schemeClr val="tx2"/>
                </a:solidFill>
                <a:latin typeface="Cambria" pitchFamily="34" charset="0"/>
                <a:ea typeface="Cambria" pitchFamily="34" charset="-122"/>
                <a:cs typeface="Cambria" pitchFamily="34" charset="-120"/>
              </a:rPr>
              <a:t>Scenario A  ·  gap 0.1</a:t>
            </a:r>
            <a:endParaRPr lang="en-US" sz="1400" dirty="0"/>
          </a:p>
        </p:txBody>
      </p:sp>
      <p:sp>
        <p:nvSpPr>
          <p:cNvPr id="6" name="Text 4"/>
          <p:cNvSpPr txBox="1"/>
          <p:nvPr/>
        </p:nvSpPr>
        <p:spPr>
          <a:xfrm>
            <a:off x="777240" y="2148840"/>
            <a:ext cx="3088538" cy="228600"/>
          </a:xfrm>
          <a:prstGeom prst="rect">
            <a:avLst/>
          </a:prstGeom>
          <a:noFill/>
          <a:ln/>
        </p:spPr>
        <p:txBody>
          <a:bodyPr wrap="square" lIns="0" tIns="0" rIns="0" bIns="0" rtlCol="0" anchor="t"/>
          <a:lstStyle/>
          <a:p>
            <a:pPr marL="0" indent="0">
              <a:buNone/>
            </a:pPr>
            <a:r>
              <a:rPr lang="en-US" sz="1100" dirty="0">
                <a:solidFill>
                  <a:schemeClr val="accent2"/>
                </a:solidFill>
              </a:rPr>
              <a:t>average final regret, T = 10⁶, 100 runs</a:t>
            </a:r>
            <a:endParaRPr lang="en-US" sz="1100" dirty="0"/>
          </a:p>
        </p:txBody>
      </p:sp>
      <p:sp>
        <p:nvSpPr>
          <p:cNvPr id="7" name="Text 5"/>
          <p:cNvSpPr txBox="1"/>
          <p:nvPr/>
        </p:nvSpPr>
        <p:spPr>
          <a:xfrm>
            <a:off x="777240" y="2514600"/>
            <a:ext cx="1234440" cy="329184"/>
          </a:xfrm>
          <a:prstGeom prst="rect">
            <a:avLst/>
          </a:prstGeom>
          <a:noFill/>
          <a:ln/>
        </p:spPr>
        <p:txBody>
          <a:bodyPr wrap="square" lIns="0" tIns="0" rIns="0" bIns="0" rtlCol="0" anchor="ctr"/>
          <a:lstStyle/>
          <a:p>
            <a:pPr marL="0" indent="0">
              <a:buNone/>
            </a:pPr>
            <a:r>
              <a:rPr lang="en-US" sz="1200" dirty="0">
                <a:solidFill>
                  <a:schemeClr val="tx1"/>
                </a:solidFill>
              </a:rPr>
              <a:t>ETC (m=100)</a:t>
            </a:r>
            <a:endParaRPr lang="en-US" sz="1200" dirty="0"/>
          </a:p>
        </p:txBody>
      </p:sp>
      <p:sp>
        <p:nvSpPr>
          <p:cNvPr id="8" name="regret bar"/>
          <p:cNvSpPr/>
          <p:nvPr/>
        </p:nvSpPr>
        <p:spPr>
          <a:xfrm>
            <a:off x="2011680" y="2578608"/>
            <a:ext cx="47605" cy="201168"/>
          </a:xfrm>
          <a:prstGeom prst="rect">
            <a:avLst/>
          </a:prstGeom>
          <a:solidFill>
            <a:schemeClr val="tx2"/>
          </a:solidFill>
          <a:ln/>
        </p:spPr>
        <p:txBody>
          <a:bodyPr/>
          <a:lstStyle/>
          <a:p>
            <a:endParaRPr/>
          </a:p>
        </p:txBody>
      </p:sp>
      <p:sp>
        <p:nvSpPr>
          <p:cNvPr id="9" name="Text 7"/>
          <p:cNvSpPr txBox="1"/>
          <p:nvPr/>
        </p:nvSpPr>
        <p:spPr>
          <a:xfrm>
            <a:off x="3134258" y="251460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10.10</a:t>
            </a:r>
            <a:endParaRPr lang="en-US" sz="1200" dirty="0"/>
          </a:p>
        </p:txBody>
      </p:sp>
      <p:sp>
        <p:nvSpPr>
          <p:cNvPr id="10" name="Text 8"/>
          <p:cNvSpPr txBox="1"/>
          <p:nvPr/>
        </p:nvSpPr>
        <p:spPr>
          <a:xfrm>
            <a:off x="777240" y="2935224"/>
            <a:ext cx="1234440" cy="329184"/>
          </a:xfrm>
          <a:prstGeom prst="rect">
            <a:avLst/>
          </a:prstGeom>
          <a:noFill/>
          <a:ln/>
        </p:spPr>
        <p:txBody>
          <a:bodyPr wrap="square" lIns="0" tIns="0" rIns="0" bIns="0" rtlCol="0" anchor="ctr"/>
          <a:lstStyle/>
          <a:p>
            <a:pPr marL="0" indent="0">
              <a:buNone/>
            </a:pPr>
            <a:r>
              <a:rPr lang="en-US" sz="1200" b="1" dirty="0">
                <a:solidFill>
                  <a:schemeClr val="tx1"/>
                </a:solidFill>
              </a:rPr>
              <a:t>UCB-Tuned</a:t>
            </a:r>
            <a:endParaRPr lang="en-US" sz="1200" dirty="0"/>
          </a:p>
        </p:txBody>
      </p:sp>
      <p:sp>
        <p:nvSpPr>
          <p:cNvPr id="11" name="regret bar"/>
          <p:cNvSpPr/>
          <p:nvPr/>
        </p:nvSpPr>
        <p:spPr>
          <a:xfrm>
            <a:off x="2011680" y="2999232"/>
            <a:ext cx="144558" cy="201168"/>
          </a:xfrm>
          <a:prstGeom prst="rect">
            <a:avLst/>
          </a:prstGeom>
          <a:solidFill>
            <a:schemeClr val="accent1"/>
          </a:solidFill>
          <a:ln/>
        </p:spPr>
        <p:txBody>
          <a:bodyPr/>
          <a:lstStyle/>
          <a:p>
            <a:endParaRPr/>
          </a:p>
        </p:txBody>
      </p:sp>
      <p:sp>
        <p:nvSpPr>
          <p:cNvPr id="12" name="Text 10"/>
          <p:cNvSpPr txBox="1"/>
          <p:nvPr/>
        </p:nvSpPr>
        <p:spPr>
          <a:xfrm>
            <a:off x="3134258" y="2935224"/>
            <a:ext cx="777240" cy="329184"/>
          </a:xfrm>
          <a:prstGeom prst="rect">
            <a:avLst/>
          </a:prstGeom>
          <a:noFill/>
          <a:ln/>
        </p:spPr>
        <p:txBody>
          <a:bodyPr wrap="square" lIns="0" tIns="0" rIns="0" bIns="0" rtlCol="0" anchor="ctr"/>
          <a:lstStyle/>
          <a:p>
            <a:pPr marL="0" indent="0" algn="r">
              <a:buNone/>
            </a:pPr>
            <a:r>
              <a:rPr lang="en-US" sz="1200" b="1" dirty="0">
                <a:solidFill>
                  <a:schemeClr val="tx1"/>
                </a:solidFill>
              </a:rPr>
              <a:t>30.67</a:t>
            </a:r>
            <a:endParaRPr lang="en-US" sz="1200" dirty="0"/>
          </a:p>
        </p:txBody>
      </p:sp>
      <p:sp>
        <p:nvSpPr>
          <p:cNvPr id="13" name="Text 11"/>
          <p:cNvSpPr txBox="1"/>
          <p:nvPr/>
        </p:nvSpPr>
        <p:spPr>
          <a:xfrm>
            <a:off x="777240" y="3355848"/>
            <a:ext cx="1234440" cy="329184"/>
          </a:xfrm>
          <a:prstGeom prst="rect">
            <a:avLst/>
          </a:prstGeom>
          <a:noFill/>
          <a:ln/>
        </p:spPr>
        <p:txBody>
          <a:bodyPr wrap="square" lIns="0" tIns="0" rIns="0" bIns="0" rtlCol="0" anchor="ctr"/>
          <a:lstStyle/>
          <a:p>
            <a:pPr marL="0" indent="0">
              <a:buNone/>
            </a:pPr>
            <a:r>
              <a:rPr lang="en-US" sz="1200" dirty="0">
                <a:solidFill>
                  <a:schemeClr val="tx1"/>
                </a:solidFill>
              </a:rPr>
              <a:t>EUCBV</a:t>
            </a:r>
            <a:endParaRPr lang="en-US" sz="1200" dirty="0"/>
          </a:p>
        </p:txBody>
      </p:sp>
      <p:sp>
        <p:nvSpPr>
          <p:cNvPr id="14" name="regret bar"/>
          <p:cNvSpPr/>
          <p:nvPr/>
        </p:nvSpPr>
        <p:spPr>
          <a:xfrm>
            <a:off x="2011680" y="3419856"/>
            <a:ext cx="224968" cy="201168"/>
          </a:xfrm>
          <a:prstGeom prst="rect">
            <a:avLst/>
          </a:prstGeom>
          <a:solidFill>
            <a:schemeClr val="accent4"/>
          </a:solidFill>
          <a:ln/>
        </p:spPr>
        <p:txBody>
          <a:bodyPr/>
          <a:lstStyle/>
          <a:p>
            <a:endParaRPr/>
          </a:p>
        </p:txBody>
      </p:sp>
      <p:sp>
        <p:nvSpPr>
          <p:cNvPr id="15" name="Text 13"/>
          <p:cNvSpPr txBox="1"/>
          <p:nvPr/>
        </p:nvSpPr>
        <p:spPr>
          <a:xfrm>
            <a:off x="3134258" y="3355848"/>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47.73</a:t>
            </a:r>
            <a:endParaRPr lang="en-US" sz="1200" dirty="0"/>
          </a:p>
        </p:txBody>
      </p:sp>
      <p:sp>
        <p:nvSpPr>
          <p:cNvPr id="16" name="Text 14"/>
          <p:cNvSpPr txBox="1"/>
          <p:nvPr/>
        </p:nvSpPr>
        <p:spPr>
          <a:xfrm>
            <a:off x="777240" y="3776472"/>
            <a:ext cx="1234440" cy="329184"/>
          </a:xfrm>
          <a:prstGeom prst="rect">
            <a:avLst/>
          </a:prstGeom>
          <a:noFill/>
          <a:ln/>
        </p:spPr>
        <p:txBody>
          <a:bodyPr wrap="square" lIns="0" tIns="0" rIns="0" bIns="0" rtlCol="0" anchor="ctr"/>
          <a:lstStyle/>
          <a:p>
            <a:pPr marL="0" indent="0">
              <a:buNone/>
            </a:pPr>
            <a:r>
              <a:rPr lang="en-US" sz="1200" dirty="0">
                <a:solidFill>
                  <a:schemeClr val="tx1"/>
                </a:solidFill>
              </a:rPr>
              <a:t>PAC-UCB</a:t>
            </a:r>
            <a:endParaRPr lang="en-US" sz="1200" dirty="0"/>
          </a:p>
        </p:txBody>
      </p:sp>
      <p:sp>
        <p:nvSpPr>
          <p:cNvPr id="17" name="regret bar"/>
          <p:cNvSpPr/>
          <p:nvPr/>
        </p:nvSpPr>
        <p:spPr>
          <a:xfrm>
            <a:off x="2011680" y="3840480"/>
            <a:ext cx="468978" cy="201168"/>
          </a:xfrm>
          <a:prstGeom prst="rect">
            <a:avLst/>
          </a:prstGeom>
          <a:solidFill>
            <a:schemeClr val="accent4"/>
          </a:solidFill>
          <a:ln/>
        </p:spPr>
        <p:txBody>
          <a:bodyPr/>
          <a:lstStyle/>
          <a:p>
            <a:endParaRPr/>
          </a:p>
        </p:txBody>
      </p:sp>
      <p:sp>
        <p:nvSpPr>
          <p:cNvPr id="18" name="Text 16"/>
          <p:cNvSpPr txBox="1"/>
          <p:nvPr/>
        </p:nvSpPr>
        <p:spPr>
          <a:xfrm>
            <a:off x="3134258" y="3776472"/>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99.50</a:t>
            </a:r>
            <a:endParaRPr lang="en-US" sz="1200" dirty="0"/>
          </a:p>
        </p:txBody>
      </p:sp>
      <p:sp>
        <p:nvSpPr>
          <p:cNvPr id="19" name="Text 17"/>
          <p:cNvSpPr txBox="1"/>
          <p:nvPr/>
        </p:nvSpPr>
        <p:spPr>
          <a:xfrm>
            <a:off x="777240" y="4197096"/>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UCB-V</a:t>
            </a:r>
            <a:endParaRPr lang="en-US" sz="1200" dirty="0"/>
          </a:p>
        </p:txBody>
      </p:sp>
      <p:sp>
        <p:nvSpPr>
          <p:cNvPr id="20" name="regret bar"/>
          <p:cNvSpPr/>
          <p:nvPr/>
        </p:nvSpPr>
        <p:spPr>
          <a:xfrm>
            <a:off x="2011680" y="4261104"/>
            <a:ext cx="518138" cy="201168"/>
          </a:xfrm>
          <a:prstGeom prst="rect">
            <a:avLst/>
          </a:prstGeom>
          <a:solidFill>
            <a:schemeClr val="accent4"/>
          </a:solidFill>
          <a:ln/>
        </p:spPr>
        <p:txBody>
          <a:bodyPr/>
          <a:lstStyle/>
          <a:p>
            <a:endParaRPr/>
          </a:p>
        </p:txBody>
      </p:sp>
      <p:sp>
        <p:nvSpPr>
          <p:cNvPr id="21" name="Text 19"/>
          <p:cNvSpPr txBox="1"/>
          <p:nvPr/>
        </p:nvSpPr>
        <p:spPr>
          <a:xfrm>
            <a:off x="3134258" y="4197096"/>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109.93</a:t>
            </a:r>
            <a:endParaRPr lang="en-US" sz="1200" dirty="0"/>
          </a:p>
        </p:txBody>
      </p:sp>
      <p:sp>
        <p:nvSpPr>
          <p:cNvPr id="22" name="Text 20"/>
          <p:cNvSpPr txBox="1"/>
          <p:nvPr/>
        </p:nvSpPr>
        <p:spPr>
          <a:xfrm>
            <a:off x="777240" y="4617720"/>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a:t>
            </a:r>
            <a:endParaRPr lang="en-US" sz="1200" dirty="0"/>
          </a:p>
        </p:txBody>
      </p:sp>
      <p:sp>
        <p:nvSpPr>
          <p:cNvPr id="23" name="regret bar"/>
          <p:cNvSpPr/>
          <p:nvPr/>
        </p:nvSpPr>
        <p:spPr>
          <a:xfrm>
            <a:off x="2011680" y="4681728"/>
            <a:ext cx="1122578" cy="201168"/>
          </a:xfrm>
          <a:prstGeom prst="rect">
            <a:avLst/>
          </a:prstGeom>
          <a:solidFill>
            <a:schemeClr val="accent4"/>
          </a:solidFill>
          <a:ln/>
        </p:spPr>
        <p:txBody>
          <a:bodyPr/>
          <a:lstStyle/>
          <a:p>
            <a:endParaRPr/>
          </a:p>
        </p:txBody>
      </p:sp>
      <p:sp>
        <p:nvSpPr>
          <p:cNvPr id="24" name="Text 22"/>
          <p:cNvSpPr txBox="1"/>
          <p:nvPr/>
        </p:nvSpPr>
        <p:spPr>
          <a:xfrm>
            <a:off x="3134258" y="461772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238.17</a:t>
            </a:r>
            <a:endParaRPr lang="en-US" sz="1200" dirty="0"/>
          </a:p>
        </p:txBody>
      </p:sp>
      <p:sp>
        <p:nvSpPr>
          <p:cNvPr id="25" name="Text 23"/>
          <p:cNvSpPr txBox="1"/>
          <p:nvPr/>
        </p:nvSpPr>
        <p:spPr>
          <a:xfrm>
            <a:off x="777240" y="5120640"/>
            <a:ext cx="3088538" cy="411480"/>
          </a:xfrm>
          <a:prstGeom prst="rect">
            <a:avLst/>
          </a:prstGeom>
          <a:noFill/>
          <a:ln/>
        </p:spPr>
        <p:txBody>
          <a:bodyPr wrap="square" lIns="0" tIns="0" rIns="0" bIns="0" rtlCol="0" anchor="t"/>
          <a:lstStyle/>
          <a:p>
            <a:pPr marL="0" indent="0">
              <a:buNone/>
            </a:pPr>
            <a:r>
              <a:rPr lang="en-US" sz="1100" dirty="0">
                <a:solidFill>
                  <a:schemeClr val="accent2"/>
                </a:solidFill>
              </a:rPr>
              <a:t>Also: ETC (m=10⁴) 1,000.00 (over-exploring); UCB-Improved 32,500.11</a:t>
            </a:r>
            <a:endParaRPr lang="en-US" sz="1100" dirty="0"/>
          </a:p>
        </p:txBody>
      </p:sp>
      <p:sp>
        <p:nvSpPr>
          <p:cNvPr id="26" name="card"/>
          <p:cNvSpPr/>
          <p:nvPr/>
        </p:nvSpPr>
        <p:spPr>
          <a:xfrm>
            <a:off x="4322978" y="1645920"/>
            <a:ext cx="3545738" cy="39319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27" name="Text 25"/>
          <p:cNvSpPr txBox="1"/>
          <p:nvPr/>
        </p:nvSpPr>
        <p:spPr>
          <a:xfrm>
            <a:off x="4551578" y="1828800"/>
            <a:ext cx="3088538" cy="320040"/>
          </a:xfrm>
          <a:prstGeom prst="rect">
            <a:avLst/>
          </a:prstGeom>
          <a:noFill/>
          <a:ln/>
        </p:spPr>
        <p:txBody>
          <a:bodyPr wrap="square" lIns="0" tIns="0" rIns="0" bIns="0" rtlCol="0" anchor="t"/>
          <a:lstStyle/>
          <a:p>
            <a:pPr marL="0" indent="0">
              <a:buNone/>
            </a:pPr>
            <a:r>
              <a:rPr lang="en-US" sz="1400" b="1" dirty="0">
                <a:solidFill>
                  <a:schemeClr val="tx2"/>
                </a:solidFill>
                <a:latin typeface="Cambria" pitchFamily="34" charset="0"/>
                <a:ea typeface="Cambria" pitchFamily="34" charset="-122"/>
                <a:cs typeface="Cambria" pitchFamily="34" charset="-120"/>
              </a:rPr>
              <a:t>Scenario B  ·  gap 0.005</a:t>
            </a:r>
            <a:endParaRPr lang="en-US" sz="1400" dirty="0"/>
          </a:p>
        </p:txBody>
      </p:sp>
      <p:sp>
        <p:nvSpPr>
          <p:cNvPr id="28" name="Text 26"/>
          <p:cNvSpPr txBox="1"/>
          <p:nvPr/>
        </p:nvSpPr>
        <p:spPr>
          <a:xfrm>
            <a:off x="4551578" y="2148840"/>
            <a:ext cx="3088538" cy="228600"/>
          </a:xfrm>
          <a:prstGeom prst="rect">
            <a:avLst/>
          </a:prstGeom>
          <a:noFill/>
          <a:ln/>
        </p:spPr>
        <p:txBody>
          <a:bodyPr wrap="square" lIns="0" tIns="0" rIns="0" bIns="0" rtlCol="0" anchor="t"/>
          <a:lstStyle/>
          <a:p>
            <a:pPr marL="0" indent="0">
              <a:buNone/>
            </a:pPr>
            <a:r>
              <a:rPr lang="en-US" sz="1100" dirty="0">
                <a:solidFill>
                  <a:schemeClr val="accent2"/>
                </a:solidFill>
              </a:rPr>
              <a:t>average final regret, T = 10⁶, 100 runs</a:t>
            </a:r>
            <a:endParaRPr lang="en-US" sz="1100" dirty="0"/>
          </a:p>
        </p:txBody>
      </p:sp>
      <p:sp>
        <p:nvSpPr>
          <p:cNvPr id="29" name="Text 27"/>
          <p:cNvSpPr txBox="1"/>
          <p:nvPr/>
        </p:nvSpPr>
        <p:spPr>
          <a:xfrm>
            <a:off x="4551578" y="2514600"/>
            <a:ext cx="1234440" cy="329184"/>
          </a:xfrm>
          <a:prstGeom prst="rect">
            <a:avLst/>
          </a:prstGeom>
          <a:noFill/>
          <a:ln/>
        </p:spPr>
        <p:txBody>
          <a:bodyPr wrap="square" lIns="0" tIns="0" rIns="0" bIns="0" rtlCol="0" anchor="ctr"/>
          <a:lstStyle/>
          <a:p>
            <a:pPr marL="0" indent="0">
              <a:buNone/>
            </a:pPr>
            <a:r>
              <a:rPr lang="en-US" sz="1200" dirty="0">
                <a:solidFill>
                  <a:schemeClr val="tx1"/>
                </a:solidFill>
              </a:rPr>
              <a:t>ETC (m=10⁴)</a:t>
            </a:r>
            <a:endParaRPr lang="en-US" sz="1200" dirty="0"/>
          </a:p>
        </p:txBody>
      </p:sp>
      <p:sp>
        <p:nvSpPr>
          <p:cNvPr id="30" name="regret bar"/>
          <p:cNvSpPr/>
          <p:nvPr/>
        </p:nvSpPr>
        <p:spPr>
          <a:xfrm>
            <a:off x="5786018" y="2578608"/>
            <a:ext cx="150046" cy="201168"/>
          </a:xfrm>
          <a:prstGeom prst="rect">
            <a:avLst/>
          </a:prstGeom>
          <a:solidFill>
            <a:schemeClr val="tx2"/>
          </a:solidFill>
          <a:ln/>
        </p:spPr>
        <p:txBody>
          <a:bodyPr/>
          <a:lstStyle/>
          <a:p>
            <a:endParaRPr/>
          </a:p>
        </p:txBody>
      </p:sp>
      <p:sp>
        <p:nvSpPr>
          <p:cNvPr id="31" name="Text 29"/>
          <p:cNvSpPr txBox="1"/>
          <p:nvPr/>
        </p:nvSpPr>
        <p:spPr>
          <a:xfrm>
            <a:off x="6908597" y="251460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150.66</a:t>
            </a:r>
            <a:endParaRPr lang="en-US" sz="1200" dirty="0"/>
          </a:p>
        </p:txBody>
      </p:sp>
      <p:sp>
        <p:nvSpPr>
          <p:cNvPr id="32" name="Text 30"/>
          <p:cNvSpPr txBox="1"/>
          <p:nvPr/>
        </p:nvSpPr>
        <p:spPr>
          <a:xfrm>
            <a:off x="4551578" y="2935224"/>
            <a:ext cx="1234440" cy="329184"/>
          </a:xfrm>
          <a:prstGeom prst="rect">
            <a:avLst/>
          </a:prstGeom>
          <a:noFill/>
          <a:ln/>
        </p:spPr>
        <p:txBody>
          <a:bodyPr wrap="square" lIns="0" tIns="0" rIns="0" bIns="0" rtlCol="0" anchor="ctr"/>
          <a:lstStyle/>
          <a:p>
            <a:pPr marL="0" indent="0">
              <a:buNone/>
            </a:pPr>
            <a:r>
              <a:rPr lang="en-US" sz="1200" b="1" dirty="0">
                <a:solidFill>
                  <a:schemeClr val="tx1"/>
                </a:solidFill>
              </a:rPr>
              <a:t>UCB-Tuned</a:t>
            </a:r>
            <a:endParaRPr lang="en-US" sz="1200" dirty="0"/>
          </a:p>
        </p:txBody>
      </p:sp>
      <p:sp>
        <p:nvSpPr>
          <p:cNvPr id="33" name="regret bar"/>
          <p:cNvSpPr/>
          <p:nvPr/>
        </p:nvSpPr>
        <p:spPr>
          <a:xfrm>
            <a:off x="5786018" y="2999232"/>
            <a:ext cx="211346" cy="201168"/>
          </a:xfrm>
          <a:prstGeom prst="rect">
            <a:avLst/>
          </a:prstGeom>
          <a:solidFill>
            <a:schemeClr val="accent1"/>
          </a:solidFill>
          <a:ln/>
        </p:spPr>
        <p:txBody>
          <a:bodyPr/>
          <a:lstStyle/>
          <a:p>
            <a:endParaRPr/>
          </a:p>
        </p:txBody>
      </p:sp>
      <p:sp>
        <p:nvSpPr>
          <p:cNvPr id="34" name="Text 32"/>
          <p:cNvSpPr txBox="1"/>
          <p:nvPr/>
        </p:nvSpPr>
        <p:spPr>
          <a:xfrm>
            <a:off x="6908597" y="2935224"/>
            <a:ext cx="777240" cy="329184"/>
          </a:xfrm>
          <a:prstGeom prst="rect">
            <a:avLst/>
          </a:prstGeom>
          <a:noFill/>
          <a:ln/>
        </p:spPr>
        <p:txBody>
          <a:bodyPr wrap="square" lIns="0" tIns="0" rIns="0" bIns="0" rtlCol="0" anchor="ctr"/>
          <a:lstStyle/>
          <a:p>
            <a:pPr marL="0" indent="0" algn="r">
              <a:buNone/>
            </a:pPr>
            <a:r>
              <a:rPr lang="en-US" sz="1200" b="1" dirty="0">
                <a:solidFill>
                  <a:schemeClr val="tx1"/>
                </a:solidFill>
              </a:rPr>
              <a:t>212.21</a:t>
            </a:r>
            <a:endParaRPr lang="en-US" sz="1200" dirty="0"/>
          </a:p>
        </p:txBody>
      </p:sp>
      <p:sp>
        <p:nvSpPr>
          <p:cNvPr id="35" name="Text 33"/>
          <p:cNvSpPr txBox="1"/>
          <p:nvPr/>
        </p:nvSpPr>
        <p:spPr>
          <a:xfrm>
            <a:off x="4551578" y="3355848"/>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UCB-V</a:t>
            </a:r>
            <a:endParaRPr lang="en-US" sz="1200" dirty="0"/>
          </a:p>
        </p:txBody>
      </p:sp>
      <p:sp>
        <p:nvSpPr>
          <p:cNvPr id="36" name="regret bar"/>
          <p:cNvSpPr/>
          <p:nvPr/>
        </p:nvSpPr>
        <p:spPr>
          <a:xfrm>
            <a:off x="5786018" y="3419856"/>
            <a:ext cx="345168" cy="201168"/>
          </a:xfrm>
          <a:prstGeom prst="rect">
            <a:avLst/>
          </a:prstGeom>
          <a:solidFill>
            <a:schemeClr val="accent4"/>
          </a:solidFill>
          <a:ln/>
        </p:spPr>
        <p:txBody>
          <a:bodyPr/>
          <a:lstStyle/>
          <a:p>
            <a:endParaRPr/>
          </a:p>
        </p:txBody>
      </p:sp>
      <p:sp>
        <p:nvSpPr>
          <p:cNvPr id="37" name="Text 35"/>
          <p:cNvSpPr txBox="1"/>
          <p:nvPr/>
        </p:nvSpPr>
        <p:spPr>
          <a:xfrm>
            <a:off x="6908597" y="3355848"/>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346.58</a:t>
            </a:r>
            <a:endParaRPr lang="en-US" sz="1200" dirty="0"/>
          </a:p>
        </p:txBody>
      </p:sp>
      <p:sp>
        <p:nvSpPr>
          <p:cNvPr id="38" name="Text 36"/>
          <p:cNvSpPr txBox="1"/>
          <p:nvPr/>
        </p:nvSpPr>
        <p:spPr>
          <a:xfrm>
            <a:off x="4551578" y="3776472"/>
            <a:ext cx="1234440" cy="329184"/>
          </a:xfrm>
          <a:prstGeom prst="rect">
            <a:avLst/>
          </a:prstGeom>
          <a:noFill/>
          <a:ln/>
        </p:spPr>
        <p:txBody>
          <a:bodyPr wrap="square" lIns="0" tIns="0" rIns="0" bIns="0" rtlCol="0" anchor="ctr"/>
          <a:lstStyle/>
          <a:p>
            <a:pPr marL="0" indent="0">
              <a:buNone/>
            </a:pPr>
            <a:r>
              <a:rPr lang="en-US" sz="1200" dirty="0">
                <a:solidFill>
                  <a:schemeClr val="tx1"/>
                </a:solidFill>
              </a:rPr>
              <a:t>PAC-UCB</a:t>
            </a:r>
            <a:endParaRPr lang="en-US" sz="1200" dirty="0"/>
          </a:p>
        </p:txBody>
      </p:sp>
      <p:sp>
        <p:nvSpPr>
          <p:cNvPr id="39" name="regret bar"/>
          <p:cNvSpPr/>
          <p:nvPr/>
        </p:nvSpPr>
        <p:spPr>
          <a:xfrm>
            <a:off x="5786018" y="3840480"/>
            <a:ext cx="394277" cy="201168"/>
          </a:xfrm>
          <a:prstGeom prst="rect">
            <a:avLst/>
          </a:prstGeom>
          <a:solidFill>
            <a:schemeClr val="accent4"/>
          </a:solidFill>
          <a:ln/>
        </p:spPr>
        <p:txBody>
          <a:bodyPr/>
          <a:lstStyle/>
          <a:p>
            <a:endParaRPr/>
          </a:p>
        </p:txBody>
      </p:sp>
      <p:sp>
        <p:nvSpPr>
          <p:cNvPr id="40" name="Text 38"/>
          <p:cNvSpPr txBox="1"/>
          <p:nvPr/>
        </p:nvSpPr>
        <p:spPr>
          <a:xfrm>
            <a:off x="6908597" y="3776472"/>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395.89</a:t>
            </a:r>
            <a:endParaRPr lang="en-US" sz="1200" dirty="0"/>
          </a:p>
        </p:txBody>
      </p:sp>
      <p:sp>
        <p:nvSpPr>
          <p:cNvPr id="41" name="Text 39"/>
          <p:cNvSpPr txBox="1"/>
          <p:nvPr/>
        </p:nvSpPr>
        <p:spPr>
          <a:xfrm>
            <a:off x="4551578" y="4197096"/>
            <a:ext cx="1234440" cy="329184"/>
          </a:xfrm>
          <a:prstGeom prst="rect">
            <a:avLst/>
          </a:prstGeom>
          <a:noFill/>
          <a:ln/>
        </p:spPr>
        <p:txBody>
          <a:bodyPr wrap="square" lIns="0" tIns="0" rIns="0" bIns="0" rtlCol="0" anchor="ctr"/>
          <a:lstStyle/>
          <a:p>
            <a:pPr marL="0" indent="0">
              <a:buNone/>
            </a:pPr>
            <a:r>
              <a:rPr lang="en-US" sz="1200" dirty="0">
                <a:solidFill>
                  <a:schemeClr val="tx1"/>
                </a:solidFill>
              </a:rPr>
              <a:t>EUCBV</a:t>
            </a:r>
            <a:endParaRPr lang="en-US" sz="1200" dirty="0"/>
          </a:p>
        </p:txBody>
      </p:sp>
      <p:sp>
        <p:nvSpPr>
          <p:cNvPr id="42" name="regret bar"/>
          <p:cNvSpPr/>
          <p:nvPr/>
        </p:nvSpPr>
        <p:spPr>
          <a:xfrm>
            <a:off x="5786018" y="4261104"/>
            <a:ext cx="459481" cy="201168"/>
          </a:xfrm>
          <a:prstGeom prst="rect">
            <a:avLst/>
          </a:prstGeom>
          <a:solidFill>
            <a:schemeClr val="accent4"/>
          </a:solidFill>
          <a:ln/>
        </p:spPr>
        <p:txBody>
          <a:bodyPr/>
          <a:lstStyle/>
          <a:p>
            <a:endParaRPr/>
          </a:p>
        </p:txBody>
      </p:sp>
      <p:sp>
        <p:nvSpPr>
          <p:cNvPr id="43" name="Text 41"/>
          <p:cNvSpPr txBox="1"/>
          <p:nvPr/>
        </p:nvSpPr>
        <p:spPr>
          <a:xfrm>
            <a:off x="6908597" y="4197096"/>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461.36</a:t>
            </a:r>
            <a:endParaRPr lang="en-US" sz="1200" dirty="0"/>
          </a:p>
        </p:txBody>
      </p:sp>
      <p:sp>
        <p:nvSpPr>
          <p:cNvPr id="44" name="Text 42"/>
          <p:cNvSpPr txBox="1"/>
          <p:nvPr/>
        </p:nvSpPr>
        <p:spPr>
          <a:xfrm>
            <a:off x="4551578" y="4617720"/>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a:t>
            </a:r>
            <a:endParaRPr lang="en-US" sz="1200" dirty="0"/>
          </a:p>
        </p:txBody>
      </p:sp>
      <p:sp>
        <p:nvSpPr>
          <p:cNvPr id="45" name="regret bar"/>
          <p:cNvSpPr/>
          <p:nvPr/>
        </p:nvSpPr>
        <p:spPr>
          <a:xfrm>
            <a:off x="5786018" y="4681728"/>
            <a:ext cx="1122578" cy="201168"/>
          </a:xfrm>
          <a:prstGeom prst="rect">
            <a:avLst/>
          </a:prstGeom>
          <a:solidFill>
            <a:schemeClr val="accent4"/>
          </a:solidFill>
          <a:ln/>
        </p:spPr>
        <p:txBody>
          <a:bodyPr/>
          <a:lstStyle/>
          <a:p>
            <a:endParaRPr/>
          </a:p>
        </p:txBody>
      </p:sp>
      <p:sp>
        <p:nvSpPr>
          <p:cNvPr id="46" name="Text 44"/>
          <p:cNvSpPr txBox="1"/>
          <p:nvPr/>
        </p:nvSpPr>
        <p:spPr>
          <a:xfrm>
            <a:off x="6908597" y="461772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1,127.17</a:t>
            </a:r>
            <a:endParaRPr lang="en-US" sz="1200" dirty="0"/>
          </a:p>
        </p:txBody>
      </p:sp>
      <p:sp>
        <p:nvSpPr>
          <p:cNvPr id="47" name="Text 45"/>
          <p:cNvSpPr txBox="1"/>
          <p:nvPr/>
        </p:nvSpPr>
        <p:spPr>
          <a:xfrm>
            <a:off x="4551578" y="5120640"/>
            <a:ext cx="3088538" cy="411480"/>
          </a:xfrm>
          <a:prstGeom prst="rect">
            <a:avLst/>
          </a:prstGeom>
          <a:noFill/>
          <a:ln/>
        </p:spPr>
        <p:txBody>
          <a:bodyPr wrap="square" lIns="0" tIns="0" rIns="0" bIns="0" rtlCol="0" anchor="t"/>
          <a:lstStyle/>
          <a:p>
            <a:pPr marL="0" indent="0">
              <a:buNone/>
            </a:pPr>
            <a:r>
              <a:rPr lang="en-US" sz="1100" dirty="0">
                <a:solidFill>
                  <a:schemeClr val="accent2"/>
                </a:solidFill>
              </a:rPr>
              <a:t>Also: UCB-Improved 2,525.00</a:t>
            </a:r>
            <a:endParaRPr lang="en-US" sz="1100" dirty="0"/>
          </a:p>
        </p:txBody>
      </p:sp>
      <p:sp>
        <p:nvSpPr>
          <p:cNvPr id="48" name="card"/>
          <p:cNvSpPr/>
          <p:nvPr/>
        </p:nvSpPr>
        <p:spPr>
          <a:xfrm>
            <a:off x="8097317" y="1645920"/>
            <a:ext cx="3545738" cy="393192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49" name="Text 47"/>
          <p:cNvSpPr txBox="1"/>
          <p:nvPr/>
        </p:nvSpPr>
        <p:spPr>
          <a:xfrm>
            <a:off x="8325917" y="1828800"/>
            <a:ext cx="3088538" cy="320040"/>
          </a:xfrm>
          <a:prstGeom prst="rect">
            <a:avLst/>
          </a:prstGeom>
          <a:noFill/>
          <a:ln/>
        </p:spPr>
        <p:txBody>
          <a:bodyPr wrap="square" lIns="0" tIns="0" rIns="0" bIns="0" rtlCol="0" anchor="t"/>
          <a:lstStyle/>
          <a:p>
            <a:pPr marL="0" indent="0">
              <a:buNone/>
            </a:pPr>
            <a:r>
              <a:rPr lang="en-US" sz="1400" b="1" dirty="0">
                <a:solidFill>
                  <a:schemeClr val="tx2"/>
                </a:solidFill>
                <a:latin typeface="Cambria" pitchFamily="34" charset="0"/>
                <a:ea typeface="Cambria" pitchFamily="34" charset="-122"/>
                <a:cs typeface="Cambria" pitchFamily="34" charset="-120"/>
              </a:rPr>
              <a:t>Scenario C  ·  gap 0.005</a:t>
            </a:r>
            <a:endParaRPr lang="en-US" sz="1400" dirty="0"/>
          </a:p>
        </p:txBody>
      </p:sp>
      <p:sp>
        <p:nvSpPr>
          <p:cNvPr id="50" name="Text 48"/>
          <p:cNvSpPr txBox="1"/>
          <p:nvPr/>
        </p:nvSpPr>
        <p:spPr>
          <a:xfrm>
            <a:off x="8325917" y="2148840"/>
            <a:ext cx="3088538" cy="228600"/>
          </a:xfrm>
          <a:prstGeom prst="rect">
            <a:avLst/>
          </a:prstGeom>
          <a:noFill/>
          <a:ln/>
        </p:spPr>
        <p:txBody>
          <a:bodyPr wrap="square" lIns="0" tIns="0" rIns="0" bIns="0" rtlCol="0" anchor="t"/>
          <a:lstStyle/>
          <a:p>
            <a:pPr marL="0" indent="0">
              <a:buNone/>
            </a:pPr>
            <a:r>
              <a:rPr lang="en-US" sz="1100" dirty="0">
                <a:solidFill>
                  <a:schemeClr val="accent2"/>
                </a:solidFill>
              </a:rPr>
              <a:t>average final regret, T = 10⁶, 100 runs</a:t>
            </a:r>
            <a:endParaRPr lang="en-US" sz="1100" dirty="0"/>
          </a:p>
        </p:txBody>
      </p:sp>
      <p:sp>
        <p:nvSpPr>
          <p:cNvPr id="51" name="Text 49"/>
          <p:cNvSpPr txBox="1"/>
          <p:nvPr/>
        </p:nvSpPr>
        <p:spPr>
          <a:xfrm>
            <a:off x="8325917" y="2514600"/>
            <a:ext cx="1234440" cy="329184"/>
          </a:xfrm>
          <a:prstGeom prst="rect">
            <a:avLst/>
          </a:prstGeom>
          <a:noFill/>
          <a:ln/>
        </p:spPr>
        <p:txBody>
          <a:bodyPr wrap="square" lIns="0" tIns="0" rIns="0" bIns="0" rtlCol="0" anchor="ctr"/>
          <a:lstStyle/>
          <a:p>
            <a:pPr marL="0" indent="0">
              <a:buNone/>
            </a:pPr>
            <a:r>
              <a:rPr lang="en-US" sz="1200" dirty="0">
                <a:solidFill>
                  <a:schemeClr val="tx1"/>
                </a:solidFill>
              </a:rPr>
              <a:t>ETC (m=10⁴)</a:t>
            </a:r>
            <a:endParaRPr lang="en-US" sz="1200" dirty="0"/>
          </a:p>
        </p:txBody>
      </p:sp>
      <p:sp>
        <p:nvSpPr>
          <p:cNvPr id="52" name="regret bar"/>
          <p:cNvSpPr/>
          <p:nvPr/>
        </p:nvSpPr>
        <p:spPr>
          <a:xfrm>
            <a:off x="9560357" y="2578608"/>
            <a:ext cx="163260" cy="201168"/>
          </a:xfrm>
          <a:prstGeom prst="rect">
            <a:avLst/>
          </a:prstGeom>
          <a:solidFill>
            <a:schemeClr val="tx2"/>
          </a:solidFill>
          <a:ln/>
        </p:spPr>
        <p:txBody>
          <a:bodyPr/>
          <a:lstStyle/>
          <a:p>
            <a:endParaRPr/>
          </a:p>
        </p:txBody>
      </p:sp>
      <p:sp>
        <p:nvSpPr>
          <p:cNvPr id="53" name="Text 51"/>
          <p:cNvSpPr txBox="1"/>
          <p:nvPr/>
        </p:nvSpPr>
        <p:spPr>
          <a:xfrm>
            <a:off x="10682935" y="251460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170.53</a:t>
            </a:r>
            <a:endParaRPr lang="en-US" sz="1200" dirty="0"/>
          </a:p>
        </p:txBody>
      </p:sp>
      <p:sp>
        <p:nvSpPr>
          <p:cNvPr id="54" name="Text 52"/>
          <p:cNvSpPr txBox="1"/>
          <p:nvPr/>
        </p:nvSpPr>
        <p:spPr>
          <a:xfrm>
            <a:off x="8325917" y="2935224"/>
            <a:ext cx="1234440" cy="329184"/>
          </a:xfrm>
          <a:prstGeom prst="rect">
            <a:avLst/>
          </a:prstGeom>
          <a:noFill/>
          <a:ln/>
        </p:spPr>
        <p:txBody>
          <a:bodyPr wrap="square" lIns="0" tIns="0" rIns="0" bIns="0" rtlCol="0" anchor="ctr"/>
          <a:lstStyle/>
          <a:p>
            <a:pPr marL="0" indent="0">
              <a:buNone/>
            </a:pPr>
            <a:r>
              <a:rPr lang="en-US" sz="1200" b="1" dirty="0">
                <a:solidFill>
                  <a:schemeClr val="tx1"/>
                </a:solidFill>
              </a:rPr>
              <a:t>UCB-Tuned</a:t>
            </a:r>
            <a:endParaRPr lang="en-US" sz="1200" dirty="0"/>
          </a:p>
        </p:txBody>
      </p:sp>
      <p:sp>
        <p:nvSpPr>
          <p:cNvPr id="55" name="regret bar"/>
          <p:cNvSpPr/>
          <p:nvPr/>
        </p:nvSpPr>
        <p:spPr>
          <a:xfrm>
            <a:off x="9560357" y="2999232"/>
            <a:ext cx="216451" cy="201168"/>
          </a:xfrm>
          <a:prstGeom prst="rect">
            <a:avLst/>
          </a:prstGeom>
          <a:solidFill>
            <a:schemeClr val="accent1"/>
          </a:solidFill>
          <a:ln/>
        </p:spPr>
        <p:txBody>
          <a:bodyPr/>
          <a:lstStyle/>
          <a:p>
            <a:endParaRPr/>
          </a:p>
        </p:txBody>
      </p:sp>
      <p:sp>
        <p:nvSpPr>
          <p:cNvPr id="56" name="Text 54"/>
          <p:cNvSpPr txBox="1"/>
          <p:nvPr/>
        </p:nvSpPr>
        <p:spPr>
          <a:xfrm>
            <a:off x="10682935" y="2935224"/>
            <a:ext cx="777240" cy="329184"/>
          </a:xfrm>
          <a:prstGeom prst="rect">
            <a:avLst/>
          </a:prstGeom>
          <a:noFill/>
          <a:ln/>
        </p:spPr>
        <p:txBody>
          <a:bodyPr wrap="square" lIns="0" tIns="0" rIns="0" bIns="0" rtlCol="0" anchor="ctr"/>
          <a:lstStyle/>
          <a:p>
            <a:pPr marL="0" indent="0" algn="r">
              <a:buNone/>
            </a:pPr>
            <a:r>
              <a:rPr lang="en-US" sz="1200" b="1" dirty="0">
                <a:solidFill>
                  <a:schemeClr val="tx1"/>
                </a:solidFill>
              </a:rPr>
              <a:t>226.09</a:t>
            </a:r>
            <a:endParaRPr lang="en-US" sz="1200" dirty="0"/>
          </a:p>
        </p:txBody>
      </p:sp>
      <p:sp>
        <p:nvSpPr>
          <p:cNvPr id="57" name="Text 55"/>
          <p:cNvSpPr txBox="1"/>
          <p:nvPr/>
        </p:nvSpPr>
        <p:spPr>
          <a:xfrm>
            <a:off x="8325917" y="3355848"/>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UCB-V</a:t>
            </a:r>
            <a:endParaRPr lang="en-US" sz="1200" dirty="0"/>
          </a:p>
        </p:txBody>
      </p:sp>
      <p:sp>
        <p:nvSpPr>
          <p:cNvPr id="58" name="regret bar"/>
          <p:cNvSpPr/>
          <p:nvPr/>
        </p:nvSpPr>
        <p:spPr>
          <a:xfrm>
            <a:off x="9560357" y="3419856"/>
            <a:ext cx="351976" cy="201168"/>
          </a:xfrm>
          <a:prstGeom prst="rect">
            <a:avLst/>
          </a:prstGeom>
          <a:solidFill>
            <a:schemeClr val="accent4"/>
          </a:solidFill>
          <a:ln/>
        </p:spPr>
        <p:txBody>
          <a:bodyPr/>
          <a:lstStyle/>
          <a:p>
            <a:endParaRPr/>
          </a:p>
        </p:txBody>
      </p:sp>
      <p:sp>
        <p:nvSpPr>
          <p:cNvPr id="59" name="Text 57"/>
          <p:cNvSpPr txBox="1"/>
          <p:nvPr/>
        </p:nvSpPr>
        <p:spPr>
          <a:xfrm>
            <a:off x="10682935" y="3355848"/>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367.65</a:t>
            </a:r>
            <a:endParaRPr lang="en-US" sz="1200" dirty="0"/>
          </a:p>
        </p:txBody>
      </p:sp>
      <p:sp>
        <p:nvSpPr>
          <p:cNvPr id="60" name="Text 58"/>
          <p:cNvSpPr txBox="1"/>
          <p:nvPr/>
        </p:nvSpPr>
        <p:spPr>
          <a:xfrm>
            <a:off x="8325917" y="3776472"/>
            <a:ext cx="1234440" cy="329184"/>
          </a:xfrm>
          <a:prstGeom prst="rect">
            <a:avLst/>
          </a:prstGeom>
          <a:noFill/>
          <a:ln/>
        </p:spPr>
        <p:txBody>
          <a:bodyPr wrap="square" lIns="0" tIns="0" rIns="0" bIns="0" rtlCol="0" anchor="ctr"/>
          <a:lstStyle/>
          <a:p>
            <a:pPr marL="0" indent="0">
              <a:buNone/>
            </a:pPr>
            <a:r>
              <a:rPr lang="en-US" sz="1200" dirty="0">
                <a:solidFill>
                  <a:schemeClr val="tx1"/>
                </a:solidFill>
              </a:rPr>
              <a:t>PAC-UCB</a:t>
            </a:r>
            <a:endParaRPr lang="en-US" sz="1200" dirty="0"/>
          </a:p>
        </p:txBody>
      </p:sp>
      <p:sp>
        <p:nvSpPr>
          <p:cNvPr id="61" name="regret bar"/>
          <p:cNvSpPr/>
          <p:nvPr/>
        </p:nvSpPr>
        <p:spPr>
          <a:xfrm>
            <a:off x="9560357" y="3840480"/>
            <a:ext cx="399547" cy="201168"/>
          </a:xfrm>
          <a:prstGeom prst="rect">
            <a:avLst/>
          </a:prstGeom>
          <a:solidFill>
            <a:schemeClr val="accent4"/>
          </a:solidFill>
          <a:ln/>
        </p:spPr>
        <p:txBody>
          <a:bodyPr/>
          <a:lstStyle/>
          <a:p>
            <a:endParaRPr/>
          </a:p>
        </p:txBody>
      </p:sp>
      <p:sp>
        <p:nvSpPr>
          <p:cNvPr id="62" name="Text 60"/>
          <p:cNvSpPr txBox="1"/>
          <p:nvPr/>
        </p:nvSpPr>
        <p:spPr>
          <a:xfrm>
            <a:off x="10682935" y="3776472"/>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417.34</a:t>
            </a:r>
            <a:endParaRPr lang="en-US" sz="1200" dirty="0"/>
          </a:p>
        </p:txBody>
      </p:sp>
      <p:sp>
        <p:nvSpPr>
          <p:cNvPr id="63" name="Text 61"/>
          <p:cNvSpPr txBox="1"/>
          <p:nvPr/>
        </p:nvSpPr>
        <p:spPr>
          <a:xfrm>
            <a:off x="8325917" y="4197096"/>
            <a:ext cx="1234440" cy="329184"/>
          </a:xfrm>
          <a:prstGeom prst="rect">
            <a:avLst/>
          </a:prstGeom>
          <a:noFill/>
          <a:ln/>
        </p:spPr>
        <p:txBody>
          <a:bodyPr wrap="square" lIns="0" tIns="0" rIns="0" bIns="0" rtlCol="0" anchor="ctr"/>
          <a:lstStyle/>
          <a:p>
            <a:pPr marL="0" indent="0">
              <a:buNone/>
            </a:pPr>
            <a:r>
              <a:rPr lang="en-US" sz="1200" dirty="0">
                <a:solidFill>
                  <a:schemeClr val="tx1"/>
                </a:solidFill>
              </a:rPr>
              <a:t>EUCBV</a:t>
            </a:r>
            <a:endParaRPr lang="en-US" sz="1200" dirty="0"/>
          </a:p>
        </p:txBody>
      </p:sp>
      <p:sp>
        <p:nvSpPr>
          <p:cNvPr id="64" name="regret bar"/>
          <p:cNvSpPr/>
          <p:nvPr/>
        </p:nvSpPr>
        <p:spPr>
          <a:xfrm>
            <a:off x="9560357" y="4261104"/>
            <a:ext cx="456003" cy="201168"/>
          </a:xfrm>
          <a:prstGeom prst="rect">
            <a:avLst/>
          </a:prstGeom>
          <a:solidFill>
            <a:schemeClr val="accent4"/>
          </a:solidFill>
          <a:ln/>
        </p:spPr>
        <p:txBody>
          <a:bodyPr/>
          <a:lstStyle/>
          <a:p>
            <a:endParaRPr/>
          </a:p>
        </p:txBody>
      </p:sp>
      <p:sp>
        <p:nvSpPr>
          <p:cNvPr id="65" name="Text 63"/>
          <p:cNvSpPr txBox="1"/>
          <p:nvPr/>
        </p:nvSpPr>
        <p:spPr>
          <a:xfrm>
            <a:off x="10682935" y="4197096"/>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476.31</a:t>
            </a:r>
            <a:endParaRPr lang="en-US" sz="1200" dirty="0"/>
          </a:p>
        </p:txBody>
      </p:sp>
      <p:sp>
        <p:nvSpPr>
          <p:cNvPr id="66" name="Text 64"/>
          <p:cNvSpPr txBox="1"/>
          <p:nvPr/>
        </p:nvSpPr>
        <p:spPr>
          <a:xfrm>
            <a:off x="8325917" y="4617720"/>
            <a:ext cx="1234440" cy="329184"/>
          </a:xfrm>
          <a:prstGeom prst="rect">
            <a:avLst/>
          </a:prstGeom>
          <a:noFill/>
          <a:ln/>
        </p:spPr>
        <p:txBody>
          <a:bodyPr wrap="square" lIns="0" tIns="0" rIns="0" bIns="0" rtlCol="0" anchor="ctr"/>
          <a:lstStyle/>
          <a:p>
            <a:pPr marL="0" indent="0">
              <a:buNone/>
            </a:pPr>
            <a:r>
              <a:rPr lang="en-US" sz="1200" dirty="0">
                <a:solidFill>
                  <a:schemeClr val="tx1"/>
                </a:solidFill>
              </a:rPr>
              <a:t>UCB</a:t>
            </a:r>
            <a:endParaRPr lang="en-US" sz="1200" dirty="0"/>
          </a:p>
        </p:txBody>
      </p:sp>
      <p:sp>
        <p:nvSpPr>
          <p:cNvPr id="67" name="regret bar"/>
          <p:cNvSpPr/>
          <p:nvPr/>
        </p:nvSpPr>
        <p:spPr>
          <a:xfrm>
            <a:off x="9560357" y="4681728"/>
            <a:ext cx="1122578" cy="201168"/>
          </a:xfrm>
          <a:prstGeom prst="rect">
            <a:avLst/>
          </a:prstGeom>
          <a:solidFill>
            <a:schemeClr val="accent4"/>
          </a:solidFill>
          <a:ln/>
        </p:spPr>
        <p:txBody>
          <a:bodyPr/>
          <a:lstStyle/>
          <a:p>
            <a:endParaRPr/>
          </a:p>
        </p:txBody>
      </p:sp>
      <p:sp>
        <p:nvSpPr>
          <p:cNvPr id="68" name="Text 66"/>
          <p:cNvSpPr txBox="1"/>
          <p:nvPr/>
        </p:nvSpPr>
        <p:spPr>
          <a:xfrm>
            <a:off x="10682935" y="4617720"/>
            <a:ext cx="777240" cy="329184"/>
          </a:xfrm>
          <a:prstGeom prst="rect">
            <a:avLst/>
          </a:prstGeom>
          <a:noFill/>
          <a:ln/>
        </p:spPr>
        <p:txBody>
          <a:bodyPr wrap="square" lIns="0" tIns="0" rIns="0" bIns="0" rtlCol="0" anchor="ctr"/>
          <a:lstStyle/>
          <a:p>
            <a:pPr marL="0" indent="0" algn="r">
              <a:buNone/>
            </a:pPr>
            <a:r>
              <a:rPr lang="en-US" sz="1200" dirty="0">
                <a:solidFill>
                  <a:schemeClr val="tx1"/>
                </a:solidFill>
              </a:rPr>
              <a:t>1,172.57</a:t>
            </a:r>
            <a:endParaRPr lang="en-US" sz="1200" dirty="0"/>
          </a:p>
        </p:txBody>
      </p:sp>
      <p:sp>
        <p:nvSpPr>
          <p:cNvPr id="69" name="Text 67"/>
          <p:cNvSpPr txBox="1"/>
          <p:nvPr/>
        </p:nvSpPr>
        <p:spPr>
          <a:xfrm>
            <a:off x="8325917" y="5120640"/>
            <a:ext cx="3088538" cy="411480"/>
          </a:xfrm>
          <a:prstGeom prst="rect">
            <a:avLst/>
          </a:prstGeom>
          <a:noFill/>
          <a:ln/>
        </p:spPr>
        <p:txBody>
          <a:bodyPr wrap="square" lIns="0" tIns="0" rIns="0" bIns="0" rtlCol="0" anchor="t"/>
          <a:lstStyle/>
          <a:p>
            <a:pPr marL="0" indent="0">
              <a:buNone/>
            </a:pPr>
            <a:r>
              <a:rPr lang="en-US" sz="1100" dirty="0">
                <a:solidFill>
                  <a:schemeClr val="accent2"/>
                </a:solidFill>
              </a:rPr>
              <a:t>Also: ETC (m=10) 2,150.00; UCB-Improved 2,450.00</a:t>
            </a:r>
            <a:endParaRPr lang="en-US" sz="1100" dirty="0"/>
          </a:p>
        </p:txBody>
      </p:sp>
      <p:sp>
        <p:nvSpPr>
          <p:cNvPr id="70" name="caveat strip"/>
          <p:cNvSpPr/>
          <p:nvPr/>
        </p:nvSpPr>
        <p:spPr>
          <a:xfrm>
            <a:off x="548640" y="5715000"/>
            <a:ext cx="11094415" cy="594360"/>
          </a:xfrm>
          <a:prstGeom prst="roundRect">
            <a:avLst>
              <a:gd name="adj" fmla="val 10769"/>
            </a:avLst>
          </a:prstGeom>
          <a:solidFill>
            <a:schemeClr val="accent5"/>
          </a:solidFill>
          <a:ln/>
        </p:spPr>
        <p:txBody>
          <a:bodyPr/>
          <a:lstStyle/>
          <a:p>
            <a:endParaRPr/>
          </a:p>
        </p:txBody>
      </p:sp>
      <p:sp>
        <p:nvSpPr>
          <p:cNvPr id="71" name="Text 69"/>
          <p:cNvSpPr txBox="1"/>
          <p:nvPr/>
        </p:nvSpPr>
        <p:spPr>
          <a:xfrm>
            <a:off x="731520" y="5715000"/>
            <a:ext cx="10728655" cy="594360"/>
          </a:xfrm>
          <a:prstGeom prst="rect">
            <a:avLst/>
          </a:prstGeom>
          <a:noFill/>
          <a:ln/>
        </p:spPr>
        <p:txBody>
          <a:bodyPr wrap="square" lIns="0" tIns="0" rIns="0" bIns="0" rtlCol="0" anchor="ctr"/>
          <a:lstStyle/>
          <a:p>
            <a:pPr marL="0" indent="0">
              <a:buNone/>
            </a:pPr>
            <a:r>
              <a:rPr lang="en-US" sz="1250" b="1" dirty="0">
                <a:solidFill>
                  <a:schemeClr val="tx2"/>
                </a:solidFill>
              </a:rPr>
              <a:t>Paper's caveat:  </a:t>
            </a:r>
            <a:r>
              <a:rPr lang="en-US" sz="1250" dirty="0">
                <a:solidFill>
                  <a:schemeClr val="tx1"/>
                </a:solidFill>
              </a:rPr>
              <a:t>ETC's lead depends on choosing the exploration length m with knowledge of the environment, which is rarely available. UCB-Tuned needs no such tuning. Bars show only the best ETC setting; source: paper Tables 3–5.</a:t>
            </a:r>
            <a:endParaRPr lang="en-US" sz="1250" dirty="0"/>
          </a:p>
        </p:txBody>
      </p:sp>
      <p:sp>
        <p:nvSpPr>
          <p:cNvPr id="72"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RESULTS REPORTED IN THE PAPER</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UCB-Tuned lowers regret in all three reported settings</a:t>
            </a:r>
            <a:endParaRPr lang="en-US" sz="2800" dirty="0"/>
          </a:p>
        </p:txBody>
      </p:sp>
      <p:sp>
        <p:nvSpPr>
          <p:cNvPr id="4" name="card"/>
          <p:cNvSpPr/>
          <p:nvPr/>
        </p:nvSpPr>
        <p:spPr>
          <a:xfrm>
            <a:off x="548640" y="1645920"/>
            <a:ext cx="6949440" cy="4617720"/>
          </a:xfrm>
          <a:prstGeom prst="roundRect">
            <a:avLst>
              <a:gd name="adj" fmla="val 1386"/>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graphicFrame>
        <p:nvGraphicFramePr>
          <p:cNvPr id="5" name="Chart 0"/>
          <p:cNvGraphicFramePr/>
          <p:nvPr/>
        </p:nvGraphicFramePr>
        <p:xfrm>
          <a:off x="685800" y="1737360"/>
          <a:ext cx="667512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7726680" y="1645920"/>
            <a:ext cx="3916375" cy="1444752"/>
          </a:xfrm>
          <a:prstGeom prst="roundRect">
            <a:avLst>
              <a:gd name="adj" fmla="val 443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7" name="Text 4"/>
          <p:cNvSpPr txBox="1"/>
          <p:nvPr/>
        </p:nvSpPr>
        <p:spPr>
          <a:xfrm>
            <a:off x="7909560" y="1755648"/>
            <a:ext cx="3550615" cy="274320"/>
          </a:xfrm>
          <a:prstGeom prst="rect">
            <a:avLst/>
          </a:prstGeom>
          <a:noFill/>
          <a:ln/>
        </p:spPr>
        <p:txBody>
          <a:bodyPr wrap="square" lIns="0" tIns="0" rIns="0" bIns="0" rtlCol="0" anchor="t"/>
          <a:lstStyle/>
          <a:p>
            <a:pPr marL="0" indent="0">
              <a:buNone/>
            </a:pPr>
            <a:r>
              <a:rPr lang="en-US" sz="1350" b="1" dirty="0">
                <a:solidFill>
                  <a:schemeClr val="tx2"/>
                </a:solidFill>
              </a:rPr>
              <a:t>Lowest of the five plotted variants</a:t>
            </a:r>
            <a:endParaRPr lang="en-US" sz="1350" dirty="0"/>
          </a:p>
        </p:txBody>
      </p:sp>
      <p:sp>
        <p:nvSpPr>
          <p:cNvPr id="8" name="Text 5"/>
          <p:cNvSpPr txBox="1"/>
          <p:nvPr/>
        </p:nvSpPr>
        <p:spPr>
          <a:xfrm>
            <a:off x="7909560" y="2075688"/>
            <a:ext cx="3550615" cy="960120"/>
          </a:xfrm>
          <a:prstGeom prst="rect">
            <a:avLst/>
          </a:prstGeom>
          <a:noFill/>
          <a:ln/>
        </p:spPr>
        <p:txBody>
          <a:bodyPr wrap="square" lIns="0" tIns="0" rIns="0" bIns="0" rtlCol="0" anchor="t"/>
          <a:lstStyle/>
          <a:p>
            <a:pPr marL="0" indent="0">
              <a:buNone/>
            </a:pPr>
            <a:r>
              <a:rPr lang="en-US" sz="1250" dirty="0">
                <a:solidFill>
                  <a:schemeClr val="tx1"/>
                </a:solidFill>
              </a:rPr>
              <a:t>UCB-Tuned: 30.67, 212.21 and 226.09, against 238.17, 1,127.17 and 1,172.57 for plain UCB.</a:t>
            </a:r>
            <a:endParaRPr lang="en-US" sz="1250" dirty="0"/>
          </a:p>
        </p:txBody>
      </p:sp>
      <p:sp>
        <p:nvSpPr>
          <p:cNvPr id="9" name="card"/>
          <p:cNvSpPr/>
          <p:nvPr/>
        </p:nvSpPr>
        <p:spPr>
          <a:xfrm>
            <a:off x="7726680" y="3218688"/>
            <a:ext cx="3916375" cy="1444752"/>
          </a:xfrm>
          <a:prstGeom prst="roundRect">
            <a:avLst>
              <a:gd name="adj" fmla="val 443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0" name="Text 7"/>
          <p:cNvSpPr txBox="1"/>
          <p:nvPr/>
        </p:nvSpPr>
        <p:spPr>
          <a:xfrm>
            <a:off x="7909560" y="3328416"/>
            <a:ext cx="3550615" cy="274320"/>
          </a:xfrm>
          <a:prstGeom prst="rect">
            <a:avLst/>
          </a:prstGeom>
          <a:noFill/>
          <a:ln/>
        </p:spPr>
        <p:txBody>
          <a:bodyPr wrap="square" lIns="0" tIns="0" rIns="0" bIns="0" rtlCol="0" anchor="t"/>
          <a:lstStyle/>
          <a:p>
            <a:pPr marL="0" indent="0">
              <a:buNone/>
            </a:pPr>
            <a:r>
              <a:rPr lang="en-US" sz="1350" b="1" dirty="0">
                <a:solidFill>
                  <a:schemeClr val="accent1"/>
                </a:solidFill>
              </a:rPr>
              <a:t>Biggest absolute saving at micro-gaps</a:t>
            </a:r>
            <a:endParaRPr lang="en-US" sz="1350" dirty="0"/>
          </a:p>
        </p:txBody>
      </p:sp>
      <p:sp>
        <p:nvSpPr>
          <p:cNvPr id="11" name="Text 8"/>
          <p:cNvSpPr txBox="1"/>
          <p:nvPr/>
        </p:nvSpPr>
        <p:spPr>
          <a:xfrm>
            <a:off x="7909560" y="3648456"/>
            <a:ext cx="3550615" cy="960120"/>
          </a:xfrm>
          <a:prstGeom prst="rect">
            <a:avLst/>
          </a:prstGeom>
          <a:noFill/>
          <a:ln/>
        </p:spPr>
        <p:txBody>
          <a:bodyPr wrap="square" lIns="0" tIns="0" rIns="0" bIns="0" rtlCol="0" anchor="t"/>
          <a:lstStyle/>
          <a:p>
            <a:pPr marL="0" indent="0">
              <a:buNone/>
            </a:pPr>
            <a:r>
              <a:rPr lang="en-US" sz="1250" dirty="0">
                <a:solidFill>
                  <a:schemeClr val="tx1"/>
                </a:solidFill>
              </a:rPr>
              <a:t>Absolute savings are about 208, 915 and 946. UCB / UCB-Tuned is 7.77 in A, 5.31 in B and 5.19 in C; the relative reduction is greatest in A.</a:t>
            </a:r>
            <a:endParaRPr lang="en-US" sz="1250" dirty="0"/>
          </a:p>
        </p:txBody>
      </p:sp>
      <p:sp>
        <p:nvSpPr>
          <p:cNvPr id="12" name="card"/>
          <p:cNvSpPr/>
          <p:nvPr/>
        </p:nvSpPr>
        <p:spPr>
          <a:xfrm>
            <a:off x="7726680" y="4791456"/>
            <a:ext cx="3916375" cy="1444752"/>
          </a:xfrm>
          <a:prstGeom prst="roundRect">
            <a:avLst>
              <a:gd name="adj" fmla="val 4430"/>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3" name="Text 10"/>
          <p:cNvSpPr txBox="1"/>
          <p:nvPr/>
        </p:nvSpPr>
        <p:spPr>
          <a:xfrm>
            <a:off x="7909560" y="4901184"/>
            <a:ext cx="3550615" cy="274320"/>
          </a:xfrm>
          <a:prstGeom prst="rect">
            <a:avLst/>
          </a:prstGeom>
          <a:noFill/>
          <a:ln/>
        </p:spPr>
        <p:txBody>
          <a:bodyPr wrap="square" lIns="0" tIns="0" rIns="0" bIns="0" rtlCol="0" anchor="t"/>
          <a:lstStyle/>
          <a:p>
            <a:pPr marL="0" indent="0">
              <a:buNone/>
            </a:pPr>
            <a:r>
              <a:rPr lang="en-US" sz="1350" b="1" dirty="0">
                <a:solidFill>
                  <a:schemeClr val="tx2"/>
                </a:solidFill>
              </a:rPr>
              <a:t>Other tested variants</a:t>
            </a:r>
            <a:endParaRPr lang="en-US" sz="1350" dirty="0"/>
          </a:p>
        </p:txBody>
      </p:sp>
      <p:sp>
        <p:nvSpPr>
          <p:cNvPr id="14" name="Text 11"/>
          <p:cNvSpPr txBox="1"/>
          <p:nvPr/>
        </p:nvSpPr>
        <p:spPr>
          <a:xfrm>
            <a:off x="7909560" y="5221224"/>
            <a:ext cx="3550615" cy="960120"/>
          </a:xfrm>
          <a:prstGeom prst="rect">
            <a:avLst/>
          </a:prstGeom>
          <a:noFill/>
          <a:ln/>
        </p:spPr>
        <p:txBody>
          <a:bodyPr wrap="square" lIns="0" tIns="0" rIns="0" bIns="0" rtlCol="0" anchor="t"/>
          <a:lstStyle/>
          <a:p>
            <a:pPr marL="0" indent="0">
              <a:buNone/>
            </a:pPr>
            <a:r>
              <a:rPr lang="en-US" sz="1250" dirty="0">
                <a:solidFill>
                  <a:schemeClr val="tx1"/>
                </a:solidFill>
              </a:rPr>
              <a:t>UCB-V, PAC-UCB and EUCBV reach about 347–476 in B/C. UCB-Improved performs poorly in this implementation and is not plotted.</a:t>
            </a:r>
            <a:endParaRPr lang="en-US" sz="125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OUR REPRODUCTION  ·  PROOF OF WORK</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Partial reproduction: three methods at the full horizon</a:t>
            </a:r>
            <a:endParaRPr lang="en-US" sz="2800" dirty="0"/>
          </a:p>
        </p:txBody>
      </p:sp>
      <p:sp>
        <p:nvSpPr>
          <p:cNvPr id="4" name="Text 2"/>
          <p:cNvSpPr txBox="1"/>
          <p:nvPr/>
        </p:nvSpPr>
        <p:spPr>
          <a:xfrm>
            <a:off x="548640" y="1645920"/>
            <a:ext cx="5257800"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Experiment execution and scope</a:t>
            </a:r>
            <a:endParaRPr lang="en-US" sz="1500" dirty="0"/>
          </a:p>
        </p:txBody>
      </p:sp>
      <p:sp>
        <p:nvSpPr>
          <p:cNvPr id="5" name="Text 3"/>
          <p:cNvSpPr txBox="1"/>
          <p:nvPr/>
        </p:nvSpPr>
        <p:spPr>
          <a:xfrm>
            <a:off x="548640" y="1965960"/>
            <a:ext cx="5257800" cy="2011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chemeClr val="tx1"/>
                </a:solidFill>
              </a:rPr>
              <a:t>python run_experiment.py --workers 4</a:t>
            </a:r>
            <a:endParaRPr lang="en-US" sz="1400" dirty="0"/>
          </a:p>
          <a:p>
            <a:pPr marL="177800" indent="-177800">
              <a:spcAft>
                <a:spcPts val="600"/>
              </a:spcAft>
              <a:buSzPct val="100000"/>
              <a:buChar char="•"/>
            </a:pPr>
            <a:r>
              <a:rPr lang="en-US" sz="1350" dirty="0">
                <a:solidFill>
                  <a:schemeClr val="tx1"/>
                </a:solidFill>
              </a:rPr>
              <a:t>python verify_implementation.py; python make_plots.py</a:t>
            </a:r>
            <a:endParaRPr lang="en-US" sz="1400" dirty="0"/>
          </a:p>
          <a:p>
            <a:pPr marL="177800" indent="-177800">
              <a:spcAft>
                <a:spcPts val="600"/>
              </a:spcAft>
              <a:buSzPct val="100000"/>
              <a:buChar char="•"/>
            </a:pPr>
            <a:r>
              <a:rPr lang="en-US" sz="1350" dirty="0">
                <a:solidFill>
                  <a:schemeClr val="tx1"/>
                </a:solidFill>
              </a:rPr>
              <a:t>A/B/C; T = 10⁶; 100 trials; base seed 42</a:t>
            </a:r>
            <a:endParaRPr lang="en-US" sz="1400" dirty="0"/>
          </a:p>
          <a:p>
            <a:pPr marL="177800" indent="-177800">
              <a:spcAft>
                <a:spcPts val="600"/>
              </a:spcAft>
              <a:buSzPct val="100000"/>
              <a:buChar char="•"/>
            </a:pPr>
            <a:r>
              <a:rPr lang="en-US" sz="1350" dirty="0">
                <a:solidFill>
                  <a:schemeClr val="tx1"/>
                </a:solidFill>
              </a:rPr>
              <a:t>ETC, UCB, UCB-Tuned; ETC-greedy diagnostic</a:t>
            </a:r>
            <a:endParaRPr lang="en-US" sz="1400" dirty="0"/>
          </a:p>
          <a:p>
            <a:r>
              <a:rPr lang="en-US" sz="1350" dirty="0">
                <a:solidFill>
                  <a:schemeClr val="tx1"/>
                </a:solidFill>
              </a:rPr>
              <a:t>Saved tables: summary.csv and comparison.csv</a:t>
            </a:r>
          </a:p>
        </p:txBody>
      </p:sp>
      <p:sp>
        <p:nvSpPr>
          <p:cNvPr id="6" name="Text 4"/>
          <p:cNvSpPr txBox="1"/>
          <p:nvPr/>
        </p:nvSpPr>
        <p:spPr>
          <a:xfrm>
            <a:off x="548640" y="3931920"/>
            <a:ext cx="5257800"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How we checked it</a:t>
            </a:r>
            <a:endParaRPr lang="en-US" sz="1500" dirty="0"/>
          </a:p>
        </p:txBody>
      </p:sp>
      <p:sp>
        <p:nvSpPr>
          <p:cNvPr id="7" name="Text 5"/>
          <p:cNvSpPr txBox="1"/>
          <p:nvPr/>
        </p:nvSpPr>
        <p:spPr>
          <a:xfrm>
            <a:off x="548640" y="4251960"/>
            <a:ext cx="5257800" cy="1508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ETC wrong-commit rate versus a normal approximation</a:t>
            </a:r>
            <a:endParaRPr lang="en-US" sz="1400" dirty="0"/>
          </a:p>
          <a:p>
            <a:pPr marL="177800" indent="-177800">
              <a:spcAft>
                <a:spcPts val="600"/>
              </a:spcAft>
              <a:buSzPct val="100000"/>
              <a:buChar char="•"/>
            </a:pPr>
            <a:r>
              <a:rPr lang="en-US" sz="1300" dirty="0">
                <a:solidFill>
                  <a:schemeClr val="tx1"/>
                </a:solidFill>
              </a:rPr>
              <a:t>UCB, UCB-Tuned and ETC-greedy versus separate plain-loop references</a:t>
            </a:r>
          </a:p>
          <a:p>
            <a:pPr marL="177800" indent="-177800">
              <a:spcAft>
                <a:spcPts val="600"/>
              </a:spcAft>
              <a:buSzPct val="100000"/>
              <a:buChar char="•"/>
            </a:pPr>
            <a:r>
              <a:rPr lang="en-US" sz="1300" dirty="0">
                <a:solidFill>
                  <a:schemeClr val="tx1"/>
                </a:solidFill>
              </a:rPr>
              <a:t>Regret never decreases and never exceeds Δ·t</a:t>
            </a:r>
          </a:p>
          <a:p>
            <a:r>
              <a:rPr lang="en-US" sz="1300" dirty="0">
                <a:solidFill>
                  <a:schemeClr val="tx1"/>
                </a:solidFill>
              </a:rPr>
              <a:t>26 checks pass: algorithms, regret bounds and exploration cutoffs</a:t>
            </a:r>
          </a:p>
        </p:txBody>
      </p:sp>
      <p:sp>
        <p:nvSpPr>
          <p:cNvPr id="8" name="repo strip"/>
          <p:cNvSpPr/>
          <p:nvPr/>
        </p:nvSpPr>
        <p:spPr>
          <a:xfrm>
            <a:off x="548640" y="5660136"/>
            <a:ext cx="5257800" cy="457200"/>
          </a:xfrm>
          <a:prstGeom prst="roundRect">
            <a:avLst>
              <a:gd name="adj" fmla="val 14000"/>
            </a:avLst>
          </a:prstGeom>
          <a:solidFill>
            <a:schemeClr val="tx2"/>
          </a:solidFill>
          <a:ln/>
        </p:spPr>
        <p:txBody>
          <a:bodyPr/>
          <a:lstStyle/>
          <a:p>
            <a:endParaRPr/>
          </a:p>
        </p:txBody>
      </p:sp>
      <p:sp>
        <p:nvSpPr>
          <p:cNvPr id="9" name="Text 7">
            <a:hlinkClick r:id="rId3"/>
          </p:cNvPr>
          <p:cNvSpPr txBox="1"/>
          <p:nvPr/>
        </p:nvSpPr>
        <p:spPr>
          <a:xfrm>
            <a:off x="731520" y="5660136"/>
            <a:ext cx="4892040" cy="457200"/>
          </a:xfrm>
          <a:prstGeom prst="rect">
            <a:avLst/>
          </a:prstGeom>
          <a:noFill/>
          <a:ln/>
        </p:spPr>
        <p:txBody>
          <a:bodyPr wrap="square" lIns="0" tIns="0" rIns="0" bIns="0" rtlCol="0" anchor="ctr"/>
          <a:lstStyle/>
          <a:p>
            <a:pPr marL="0" indent="0">
              <a:buNone/>
            </a:pPr>
            <a:r>
              <a:rPr lang="en-US" sz="1300" b="1" dirty="0">
                <a:solidFill>
                  <a:schemeClr val="accent4"/>
                </a:solidFill>
              </a:rPr>
              <a:t>Repo: github.com/nithya3080/drl-assignment-1-group6</a:t>
            </a:r>
            <a:endParaRPr lang="en-US" sz="1300" dirty="0"/>
          </a:p>
        </p:txBody>
      </p:sp>
      <p:sp>
        <p:nvSpPr>
          <p:cNvPr id="10" name="Text 8"/>
          <p:cNvSpPr txBox="1"/>
          <p:nvPr/>
        </p:nvSpPr>
        <p:spPr>
          <a:xfrm>
            <a:off x="6172200" y="1645920"/>
            <a:ext cx="5470855"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comparison.csv: T = 10⁶, 100 trials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2011680"/>
          <a:ext cx="5468112" cy="2688336"/>
        </p:xfrm>
        <a:graphic>
          <a:graphicData uri="http://schemas.openxmlformats.org/drawingml/2006/table">
            <a:tbl>
              <a:tblPr/>
              <a:tblGrid>
                <a:gridCol w="5486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tblGrid>
              <a:tr h="384048">
                <a:tc>
                  <a:txBody>
                    <a:bodyPr/>
                    <a:lstStyle/>
                    <a:p>
                      <a:pPr marL="0" indent="0" algn="l">
                        <a:buNone/>
                      </a:pPr>
                      <a:r>
                        <a:rPr lang="en-US" sz="1200" b="1" dirty="0">
                          <a:solidFill>
                            <a:schemeClr val="bg1"/>
                          </a:solidFill>
                          <a:latin typeface="Calibri" pitchFamily="34" charset="0"/>
                          <a:ea typeface="Calibri" pitchFamily="34" charset="-122"/>
                          <a:cs typeface="Calibri" pitchFamily="34" charset="-120"/>
                        </a:rPr>
                        <a:t>Scen.</a:t>
                      </a:r>
                      <a:endParaRPr lang="en-US" sz="120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lgn="r">
                        <a:buNone/>
                      </a:pPr>
                      <a:r>
                        <a:rPr lang="en-US" sz="1200" b="1" dirty="0">
                          <a:solidFill>
                            <a:schemeClr val="bg1"/>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lgn="r">
                        <a:buNone/>
                      </a:pPr>
                      <a:r>
                        <a:rPr lang="en-US" sz="1200" b="1" dirty="0">
                          <a:solidFill>
                            <a:schemeClr val="bg1"/>
                          </a:solidFill>
                          <a:latin typeface="Calibri" pitchFamily="34" charset="0"/>
                          <a:ea typeface="Calibri" pitchFamily="34" charset="-122"/>
                          <a:cs typeface="Calibri" pitchFamily="34" charset="-120"/>
                        </a:rPr>
                        <a:t>Ours ± s.e.</a:t>
                      </a:r>
                      <a:endParaRPr lang="en-US" sz="120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tc>
                  <a:txBody>
                    <a:bodyPr/>
                    <a:lstStyle/>
                    <a:p>
                      <a:pPr marL="0" indent="0" algn="r">
                        <a:buNone/>
                      </a:pPr>
                      <a:r>
                        <a:rPr lang="en-US" sz="1200" b="1" dirty="0">
                          <a:solidFill>
                            <a:schemeClr val="bg1"/>
                          </a:solidFill>
                          <a:latin typeface="Calibri" pitchFamily="34" charset="0"/>
                          <a:ea typeface="Calibri" pitchFamily="34" charset="-122"/>
                          <a:cs typeface="Calibri" pitchFamily="34" charset="-120"/>
                        </a:rPr>
                        <a:t>Ours / paper</a:t>
                      </a:r>
                      <a:endParaRPr lang="en-US" sz="120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238.17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247.04 ± 4.29</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1.04</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UCB-Tuned</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30.67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31.08 ± 1.27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1,127.17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1,132.88 ± 12.58</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UCB-Tuned</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212.21</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201.06 ± 8.47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0.95</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1,172.57</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1,122.75 ± 12.63</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0.96</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lgn="l">
                        <a:buNone/>
                      </a:pPr>
                      <a:r>
                        <a:rPr lang="en-US" sz="1250" b="1" dirty="0">
                          <a:solidFill>
                            <a:schemeClr val="tx1"/>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l">
                        <a:buNone/>
                      </a:pPr>
                      <a:r>
                        <a:rPr lang="en-US" sz="1250" dirty="0">
                          <a:solidFill>
                            <a:schemeClr val="tx1"/>
                          </a:solidFill>
                          <a:latin typeface="Calibri" pitchFamily="34" charset="0"/>
                          <a:ea typeface="Calibri" pitchFamily="34" charset="-122"/>
                          <a:cs typeface="Calibri" pitchFamily="34" charset="-120"/>
                        </a:rPr>
                        <a:t>UCB-Tuned</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226.09</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dirty="0">
                          <a:solidFill>
                            <a:schemeClr val="tx1"/>
                          </a:solidFill>
                          <a:latin typeface="Calibri" pitchFamily="34" charset="0"/>
                          <a:ea typeface="Calibri" pitchFamily="34" charset="-122"/>
                          <a:cs typeface="Calibri" pitchFamily="34" charset="-120"/>
                        </a:rPr>
                        <a:t>227.82 ± 8.94</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tc>
                  <a:txBody>
                    <a:bodyPr/>
                    <a:lstStyle/>
                    <a:p>
                      <a:pPr marL="0" indent="0" algn="r">
                        <a:buNone/>
                      </a:pPr>
                      <a:r>
                        <a:rPr lang="en-US" sz="1250" b="1" dirty="0">
                          <a:solidFill>
                            <a:schemeClr val="tx1"/>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T="18288" marB="18288"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12" name="card"/>
          <p:cNvSpPr/>
          <p:nvPr/>
        </p:nvSpPr>
        <p:spPr>
          <a:xfrm>
            <a:off x="6172200" y="4892040"/>
            <a:ext cx="5470855" cy="1417320"/>
          </a:xfrm>
          <a:prstGeom prst="roundRect">
            <a:avLst>
              <a:gd name="adj" fmla="val 4516"/>
            </a:avLst>
          </a:prstGeom>
          <a:solidFill>
            <a:schemeClr val="accent5"/>
          </a:solidFill>
          <a:ln w="9525">
            <a:solidFill>
              <a:schemeClr val="accent5"/>
            </a:solidFill>
            <a:prstDash val="solid"/>
          </a:ln>
        </p:spPr>
        <p:txBody>
          <a:bodyPr/>
          <a:lstStyle/>
          <a:p>
            <a:endParaRPr/>
          </a:p>
        </p:txBody>
      </p:sp>
      <p:sp>
        <p:nvSpPr>
          <p:cNvPr id="13" name="Text 10"/>
          <p:cNvSpPr txBox="1"/>
          <p:nvPr/>
        </p:nvSpPr>
        <p:spPr>
          <a:xfrm>
            <a:off x="6355080" y="4983480"/>
            <a:ext cx="2743200" cy="274320"/>
          </a:xfrm>
          <a:prstGeom prst="rect">
            <a:avLst/>
          </a:prstGeom>
          <a:noFill/>
          <a:ln/>
        </p:spPr>
        <p:txBody>
          <a:bodyPr wrap="square" lIns="0" tIns="0" rIns="0" bIns="0" rtlCol="0" anchor="t"/>
          <a:lstStyle/>
          <a:p>
            <a:pPr marL="0" indent="0">
              <a:buNone/>
            </a:pPr>
            <a:r>
              <a:rPr lang="en-US" sz="1300" b="1" dirty="0">
                <a:solidFill>
                  <a:schemeClr val="tx2"/>
                </a:solidFill>
              </a:rPr>
              <a:t>Result</a:t>
            </a:r>
            <a:endParaRPr lang="en-US" sz="1300" dirty="0"/>
          </a:p>
        </p:txBody>
      </p:sp>
      <p:sp>
        <p:nvSpPr>
          <p:cNvPr id="14" name="Text 11"/>
          <p:cNvSpPr txBox="1"/>
          <p:nvPr/>
        </p:nvSpPr>
        <p:spPr>
          <a:xfrm>
            <a:off x="6355080" y="5285232"/>
            <a:ext cx="5105095" cy="960120"/>
          </a:xfrm>
          <a:prstGeom prst="rect">
            <a:avLst/>
          </a:prstGeom>
          <a:noFill/>
          <a:ln/>
        </p:spPr>
        <p:txBody>
          <a:bodyPr wrap="square" lIns="0" tIns="0" rIns="0" bIns="0" rtlCol="0" anchor="t"/>
          <a:lstStyle/>
          <a:p>
            <a:pPr marL="0" indent="0">
              <a:buNone/>
            </a:pPr>
            <a:r>
              <a:rPr lang="en-US" sz="1300" dirty="0">
                <a:solidFill>
                  <a:schemeClr val="tx1"/>
                </a:solidFill>
              </a:rPr>
              <a:t>All six means differ by less than 6% from the paper. Our standard errors are shown; these differences alone do not establish statistical equivalence.</a:t>
            </a:r>
            <a:endParaRPr lang="en-US" sz="13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10</a:t>
            </a:fld>
            <a:endParaRPr lang="en-US"/>
          </a:p>
        </p:txBody>
      </p:sp>
      <p:sp>
        <p:nvSpPr>
          <p:cNvPr id="26" name="TextBox 25">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Evidence: run_experiment.py, verify_implementation.py and results/comparison.csv. Values: mean ± 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OUR REPRODUCTION  ·  RESULTS</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UCB results agree closely; ETC needs a precise definition</a:t>
            </a:r>
            <a:endParaRPr lang="en-US" sz="2800" dirty="0"/>
          </a:p>
        </p:txBody>
      </p:sp>
      <p:sp>
        <p:nvSpPr>
          <p:cNvPr id="4" name="card"/>
          <p:cNvSpPr/>
          <p:nvPr/>
        </p:nvSpPr>
        <p:spPr>
          <a:xfrm>
            <a:off x="548640" y="1600200"/>
            <a:ext cx="11094415" cy="3520440"/>
          </a:xfrm>
          <a:prstGeom prst="roundRect">
            <a:avLst>
              <a:gd name="adj" fmla="val 1818"/>
            </a:avLst>
          </a:prstGeom>
          <a:solidFill>
            <a:schemeClr val="bg2"/>
          </a:solidFill>
          <a:ln w="9525">
            <a:solidFill>
              <a:schemeClr val="accent3"/>
            </a:solidFill>
            <a:prstDash val="solid"/>
          </a:ln>
        </p:spPr>
        <p:txBody>
          <a:bodyPr/>
          <a:lstStyle/>
          <a:p>
            <a:endParaRPr/>
          </a:p>
        </p:txBody>
      </p:sp>
      <p:sp>
        <p:nvSpPr>
          <p:cNvPr id="6" name="card"/>
          <p:cNvSpPr/>
          <p:nvPr/>
        </p:nvSpPr>
        <p:spPr>
          <a:xfrm>
            <a:off x="548640" y="5257800"/>
            <a:ext cx="3545738" cy="1097280"/>
          </a:xfrm>
          <a:prstGeom prst="roundRect">
            <a:avLst>
              <a:gd name="adj" fmla="val 583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7" name="Text 4"/>
          <p:cNvSpPr txBox="1"/>
          <p:nvPr/>
        </p:nvSpPr>
        <p:spPr>
          <a:xfrm>
            <a:off x="731520" y="5349240"/>
            <a:ext cx="3179978" cy="256032"/>
          </a:xfrm>
          <a:prstGeom prst="rect">
            <a:avLst/>
          </a:prstGeom>
          <a:noFill/>
          <a:ln/>
        </p:spPr>
        <p:txBody>
          <a:bodyPr wrap="square" lIns="0" tIns="0" rIns="0" bIns="0" rtlCol="0" anchor="t"/>
          <a:lstStyle/>
          <a:p>
            <a:pPr marL="0" indent="0">
              <a:buNone/>
            </a:pPr>
            <a:r>
              <a:rPr lang="en-US" sz="1350" b="1" dirty="0">
                <a:solidFill>
                  <a:schemeClr val="tx2"/>
                </a:solidFill>
              </a:rPr>
              <a:t>UCB, UCB-Tuned</a:t>
            </a:r>
            <a:endParaRPr lang="en-US" sz="1350" dirty="0"/>
          </a:p>
        </p:txBody>
      </p:sp>
      <p:sp>
        <p:nvSpPr>
          <p:cNvPr id="8" name="Text 5"/>
          <p:cNvSpPr txBox="1"/>
          <p:nvPr/>
        </p:nvSpPr>
        <p:spPr>
          <a:xfrm>
            <a:off x="731520" y="5641848"/>
            <a:ext cx="3179978" cy="685800"/>
          </a:xfrm>
          <a:prstGeom prst="rect">
            <a:avLst/>
          </a:prstGeom>
          <a:noFill/>
          <a:ln/>
        </p:spPr>
        <p:txBody>
          <a:bodyPr wrap="square" lIns="0" tIns="0" rIns="0" bIns="0" rtlCol="0" anchor="t"/>
          <a:lstStyle/>
          <a:p>
            <a:pPr marL="0" indent="0">
              <a:buNone/>
            </a:pPr>
            <a:r>
              <a:rPr lang="en-US" sz="1200" dirty="0">
                <a:solidFill>
                  <a:schemeClr val="tx1"/>
                </a:solidFill>
              </a:rPr>
              <a:t>100 trials: all six means within 6% of paper. Error bars show our ±1 standard error, not confidence intervals.</a:t>
            </a:r>
            <a:endParaRPr lang="en-US" sz="1200" dirty="0"/>
          </a:p>
        </p:txBody>
      </p:sp>
      <p:sp>
        <p:nvSpPr>
          <p:cNvPr id="9" name="card"/>
          <p:cNvSpPr/>
          <p:nvPr/>
        </p:nvSpPr>
        <p:spPr>
          <a:xfrm>
            <a:off x="4322978" y="5257800"/>
            <a:ext cx="3545738" cy="1097280"/>
          </a:xfrm>
          <a:prstGeom prst="roundRect">
            <a:avLst>
              <a:gd name="adj" fmla="val 583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0" name="Text 7"/>
          <p:cNvSpPr txBox="1"/>
          <p:nvPr/>
        </p:nvSpPr>
        <p:spPr>
          <a:xfrm>
            <a:off x="4505858" y="5349240"/>
            <a:ext cx="3179978" cy="256032"/>
          </a:xfrm>
          <a:prstGeom prst="rect">
            <a:avLst/>
          </a:prstGeom>
          <a:noFill/>
          <a:ln/>
        </p:spPr>
        <p:txBody>
          <a:bodyPr wrap="square" lIns="0" tIns="0" rIns="0" bIns="0" rtlCol="0" anchor="t"/>
          <a:lstStyle/>
          <a:p>
            <a:pPr marL="0" indent="0">
              <a:buNone/>
            </a:pPr>
            <a:r>
              <a:rPr lang="en-US" sz="1350" b="1" dirty="0">
                <a:solidFill>
                  <a:schemeClr val="tx2"/>
                </a:solidFill>
              </a:rPr>
              <a:t>ETC-greedy</a:t>
            </a:r>
            <a:endParaRPr lang="en-US" sz="1350" dirty="0"/>
          </a:p>
        </p:txBody>
      </p:sp>
      <p:sp>
        <p:nvSpPr>
          <p:cNvPr id="11" name="Text 8"/>
          <p:cNvSpPr txBox="1"/>
          <p:nvPr/>
        </p:nvSpPr>
        <p:spPr>
          <a:xfrm>
            <a:off x="4505858" y="5641848"/>
            <a:ext cx="3179978" cy="685800"/>
          </a:xfrm>
          <a:prstGeom prst="rect">
            <a:avLst/>
          </a:prstGeom>
          <a:noFill/>
          <a:ln/>
        </p:spPr>
        <p:txBody>
          <a:bodyPr wrap="square" lIns="0" tIns="0" rIns="0" bIns="0" rtlCol="0" anchor="t"/>
          <a:lstStyle/>
          <a:p>
            <a:pPr marL="0" indent="0">
              <a:buNone/>
            </a:pPr>
            <a:r>
              <a:rPr lang="en-US" sz="1200" dirty="0">
                <a:solidFill>
                  <a:schemeClr val="tx1"/>
                </a:solidFill>
              </a:rPr>
              <a:t>100 trials: A 10.01; B 189.81 ± 74.33; C 350.78 ± 116.77. Estimates are noisy.</a:t>
            </a:r>
            <a:endParaRPr lang="en-US" sz="1200" dirty="0"/>
          </a:p>
        </p:txBody>
      </p:sp>
      <p:sp>
        <p:nvSpPr>
          <p:cNvPr id="12" name="card"/>
          <p:cNvSpPr/>
          <p:nvPr/>
        </p:nvSpPr>
        <p:spPr>
          <a:xfrm>
            <a:off x="8097317" y="5257800"/>
            <a:ext cx="3545738" cy="1097280"/>
          </a:xfrm>
          <a:prstGeom prst="roundRect">
            <a:avLst>
              <a:gd name="adj" fmla="val 5833"/>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3" name="Text 10"/>
          <p:cNvSpPr txBox="1"/>
          <p:nvPr/>
        </p:nvSpPr>
        <p:spPr>
          <a:xfrm>
            <a:off x="8280197" y="5349240"/>
            <a:ext cx="3179978" cy="256032"/>
          </a:xfrm>
          <a:prstGeom prst="rect">
            <a:avLst/>
          </a:prstGeom>
          <a:noFill/>
          <a:ln/>
        </p:spPr>
        <p:txBody>
          <a:bodyPr wrap="square" lIns="0" tIns="0" rIns="0" bIns="0" rtlCol="0" anchor="t"/>
          <a:lstStyle/>
          <a:p>
            <a:pPr marL="0" indent="0">
              <a:buNone/>
            </a:pPr>
            <a:r>
              <a:rPr lang="en-US" sz="1350" b="1" dirty="0">
                <a:solidFill>
                  <a:schemeClr val="accent1"/>
                </a:solidFill>
              </a:rPr>
              <a:t>ETC (commit)</a:t>
            </a:r>
            <a:endParaRPr lang="en-US" sz="1350" dirty="0"/>
          </a:p>
        </p:txBody>
      </p:sp>
      <p:sp>
        <p:nvSpPr>
          <p:cNvPr id="14" name="Text 11"/>
          <p:cNvSpPr txBox="1"/>
          <p:nvPr/>
        </p:nvSpPr>
        <p:spPr>
          <a:xfrm>
            <a:off x="8280197" y="5641848"/>
            <a:ext cx="3179978" cy="685800"/>
          </a:xfrm>
          <a:prstGeom prst="rect">
            <a:avLst/>
          </a:prstGeom>
          <a:noFill/>
          <a:ln/>
        </p:spPr>
        <p:txBody>
          <a:bodyPr wrap="square" lIns="0" tIns="0" rIns="0" bIns="0" rtlCol="0" anchor="t"/>
          <a:lstStyle/>
          <a:p>
            <a:pPr marL="0" indent="0">
              <a:buNone/>
            </a:pPr>
            <a:r>
              <a:rPr lang="en-US" sz="1200" dirty="0">
                <a:solidFill>
                  <a:schemeClr val="tx1"/>
                </a:solidFill>
              </a:rPr>
              <a:t>100 trials: B 638.00 ± 160.03; C 491.00 ± 140.94. Wrong commitment can persist.</a:t>
            </a:r>
            <a:endParaRPr lang="en-US" sz="12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11</a:t>
            </a:fld>
            <a:endParaRPr lang="en-US"/>
          </a:p>
        </p:txBody>
      </p:sp>
      <p:pic>
        <p:nvPicPr>
          <p:cNvPr id="27" name="Picture 25" descr="final_regret_vs_paper.png"/>
          <p:cNvPicPr>
            <a:picLocks noChangeAspect="1"/>
          </p:cNvPicPr>
          <p:nvPr/>
        </p:nvPicPr>
        <p:blipFill>
          <a:blip r:embed="rId4"/>
          <a:stretch>
            <a:fillRect/>
          </a:stretch>
        </p:blipFill>
        <p:spPr>
          <a:xfrm>
            <a:off x="594360" y="1645920"/>
            <a:ext cx="11002975" cy="330089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OUR FINDING</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ETC’s definition changes the empirical comparison</a:t>
            </a:r>
            <a:endParaRPr lang="en-US" sz="2800" dirty="0"/>
          </a:p>
        </p:txBody>
      </p:sp>
      <p:pic>
        <p:nvPicPr>
          <p:cNvPr id="27" name="Image 0" descr="regret_curves.png"/>
          <p:cNvPicPr>
            <a:picLocks noChangeAspect="1"/>
          </p:cNvPicPr>
          <p:nvPr/>
        </p:nvPicPr>
        <p:blipFill>
          <a:blip r:embed="rId5"/>
          <a:stretch>
            <a:fillRect/>
          </a:stretch>
        </p:blipFill>
        <p:spPr>
          <a:xfrm>
            <a:off x="895198" y="1554480"/>
            <a:ext cx="10401300" cy="3200400"/>
          </a:xfrm>
          <a:prstGeom prst="rect">
            <a:avLst/>
          </a:prstGeom>
        </p:spPr>
      </p:pic>
      <p:sp>
        <p:nvSpPr>
          <p:cNvPr id="5" name="card"/>
          <p:cNvSpPr/>
          <p:nvPr/>
        </p:nvSpPr>
        <p:spPr>
          <a:xfrm>
            <a:off x="548640" y="4892040"/>
            <a:ext cx="2602154" cy="1417320"/>
          </a:xfrm>
          <a:prstGeom prst="roundRect">
            <a:avLst>
              <a:gd name="adj" fmla="val 4516"/>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6" name="Text 3"/>
          <p:cNvSpPr txBox="1"/>
          <p:nvPr/>
        </p:nvSpPr>
        <p:spPr>
          <a:xfrm>
            <a:off x="713232" y="4965192"/>
            <a:ext cx="2272970" cy="274320"/>
          </a:xfrm>
          <a:prstGeom prst="rect">
            <a:avLst/>
          </a:prstGeom>
          <a:noFill/>
          <a:ln/>
        </p:spPr>
        <p:txBody>
          <a:bodyPr wrap="square" lIns="0" tIns="0" rIns="0" bIns="0" rtlCol="0" anchor="t"/>
          <a:lstStyle/>
          <a:p>
            <a:pPr marL="0" indent="0">
              <a:buNone/>
            </a:pPr>
            <a:r>
              <a:rPr lang="en-US" sz="1250" b="1" dirty="0">
                <a:solidFill>
                  <a:schemeClr val="tx2"/>
                </a:solidFill>
              </a:rPr>
              <a:t>What the paper writes</a:t>
            </a:r>
            <a:endParaRPr lang="en-US" sz="1250" dirty="0"/>
          </a:p>
        </p:txBody>
      </p:sp>
      <p:sp>
        <p:nvSpPr>
          <p:cNvPr id="7" name="Text 4"/>
          <p:cNvSpPr txBox="1"/>
          <p:nvPr/>
        </p:nvSpPr>
        <p:spPr>
          <a:xfrm>
            <a:off x="713232" y="5239512"/>
            <a:ext cx="2272970" cy="1033272"/>
          </a:xfrm>
          <a:prstGeom prst="rect">
            <a:avLst/>
          </a:prstGeom>
          <a:noFill/>
          <a:ln/>
        </p:spPr>
        <p:txBody>
          <a:bodyPr wrap="square" lIns="0" tIns="0" rIns="0" bIns="0" rtlCol="0" anchor="t"/>
          <a:lstStyle/>
          <a:p>
            <a:pPr marL="0" indent="0">
              <a:buNone/>
            </a:pPr>
            <a:r>
              <a:rPr lang="en-US" sz="1150" dirty="0">
                <a:solidFill>
                  <a:schemeClr val="tx1"/>
                </a:solidFill>
              </a:rPr>
              <a:t>ETC explores m times per arm, then commits to the best arm for the rest of the horizon (§2.2).</a:t>
            </a:r>
            <a:endParaRPr lang="en-US" sz="1150" dirty="0"/>
          </a:p>
        </p:txBody>
      </p:sp>
      <p:sp>
        <p:nvSpPr>
          <p:cNvPr id="8" name="card"/>
          <p:cNvSpPr/>
          <p:nvPr/>
        </p:nvSpPr>
        <p:spPr>
          <a:xfrm>
            <a:off x="3379394" y="4892040"/>
            <a:ext cx="2602154" cy="1417320"/>
          </a:xfrm>
          <a:prstGeom prst="roundRect">
            <a:avLst>
              <a:gd name="adj" fmla="val 4516"/>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9" name="Text 6"/>
          <p:cNvSpPr txBox="1"/>
          <p:nvPr/>
        </p:nvSpPr>
        <p:spPr>
          <a:xfrm>
            <a:off x="3543986" y="4965192"/>
            <a:ext cx="2272970" cy="274320"/>
          </a:xfrm>
          <a:prstGeom prst="rect">
            <a:avLst/>
          </a:prstGeom>
          <a:noFill/>
          <a:ln/>
        </p:spPr>
        <p:txBody>
          <a:bodyPr wrap="square" lIns="0" tIns="0" rIns="0" bIns="0" rtlCol="0" anchor="t"/>
          <a:lstStyle/>
          <a:p>
            <a:pPr marL="0" indent="0">
              <a:buNone/>
            </a:pPr>
            <a:r>
              <a:rPr lang="en-US" sz="1250" b="1" dirty="0">
                <a:solidFill>
                  <a:schemeClr val="tx2"/>
                </a:solidFill>
              </a:rPr>
              <a:t>Code: reselects each round</a:t>
            </a:r>
            <a:endParaRPr lang="en-US" sz="1250" dirty="0"/>
          </a:p>
        </p:txBody>
      </p:sp>
      <p:sp>
        <p:nvSpPr>
          <p:cNvPr id="10" name="Text 7">
            <a:hlinkClick r:id="rId3"/>
          </p:cNvPr>
          <p:cNvSpPr txBox="1"/>
          <p:nvPr/>
        </p:nvSpPr>
        <p:spPr>
          <a:xfrm>
            <a:off x="3543986" y="5239512"/>
            <a:ext cx="2272970" cy="1033272"/>
          </a:xfrm>
          <a:prstGeom prst="rect">
            <a:avLst/>
          </a:prstGeom>
          <a:noFill/>
          <a:ln/>
        </p:spPr>
        <p:txBody>
          <a:bodyPr wrap="square" lIns="0" tIns="0" rIns="0" bIns="0" rtlCol="0" anchor="t"/>
          <a:lstStyle/>
          <a:p>
            <a:pPr marL="0" indent="0">
              <a:spcBef>
                <a:spcPts val="0"/>
              </a:spcBef>
              <a:spcAft>
                <a:spcPts val="200"/>
              </a:spcAft>
              <a:buNone/>
            </a:pPr>
            <a:r>
              <a:rPr lang="en-US" sz="1150" dirty="0">
                <a:solidFill>
                  <a:schemeClr val="tx1"/>
                </a:solidFill>
                <a:latin typeface="Consolas"/>
              </a:rPr>
              <a:t>arm = np.argmax(</a:t>
            </a:r>
            <a:endParaRPr lang="en-US" sz="1150" dirty="0"/>
          </a:p>
          <a:p>
            <a:pPr>
              <a:spcBef>
                <a:spcPts val="0"/>
              </a:spcBef>
              <a:spcAft>
                <a:spcPts val="200"/>
              </a:spcAft>
            </a:pPr>
            <a:r>
              <a:rPr lang="en-US" sz="1150" dirty="0">
                <a:solidFill>
                  <a:schemeClr val="tx1"/>
                </a:solidFill>
                <a:latin typeface="Consolas"/>
              </a:rPr>
              <a:t>    rewards / counts)</a:t>
            </a:r>
          </a:p>
          <a:p>
            <a:pPr>
              <a:spcBef>
                <a:spcPts val="0"/>
              </a:spcBef>
              <a:spcAft>
                <a:spcPts val="200"/>
              </a:spcAft>
            </a:pPr>
            <a:r>
              <a:rPr lang="en-US" sz="1150" dirty="0">
                <a:solidFill>
                  <a:schemeClr val="tx1"/>
                </a:solidFill>
                <a:latin typeface="Consolas"/>
              </a:rPr>
              <a:t>counts[arm] += 1</a:t>
            </a:r>
          </a:p>
          <a:p>
            <a:pPr>
              <a:spcBef>
                <a:spcPts val="0"/>
              </a:spcBef>
              <a:spcAft>
                <a:spcPts val="200"/>
              </a:spcAft>
            </a:pPr>
            <a:r>
              <a:rPr lang="en-US" sz="1150" dirty="0">
                <a:solidFill>
                  <a:schemeClr val="tx1"/>
                </a:solidFill>
                <a:latin typeface="Consolas"/>
              </a:rPr>
              <a:t>rewards[arm] += reward</a:t>
            </a:r>
          </a:p>
        </p:txBody>
      </p:sp>
      <p:sp>
        <p:nvSpPr>
          <p:cNvPr id="11" name="card"/>
          <p:cNvSpPr/>
          <p:nvPr/>
        </p:nvSpPr>
        <p:spPr>
          <a:xfrm>
            <a:off x="6210148" y="4892040"/>
            <a:ext cx="2602154" cy="1417320"/>
          </a:xfrm>
          <a:prstGeom prst="roundRect">
            <a:avLst>
              <a:gd name="adj" fmla="val 4516"/>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2" name="Text 9"/>
          <p:cNvSpPr txBox="1"/>
          <p:nvPr/>
        </p:nvSpPr>
        <p:spPr>
          <a:xfrm>
            <a:off x="6374740" y="4965192"/>
            <a:ext cx="2272970" cy="274320"/>
          </a:xfrm>
          <a:prstGeom prst="rect">
            <a:avLst/>
          </a:prstGeom>
          <a:noFill/>
          <a:ln/>
        </p:spPr>
        <p:txBody>
          <a:bodyPr wrap="square" lIns="0" tIns="0" rIns="0" bIns="0" rtlCol="0" anchor="t"/>
          <a:lstStyle/>
          <a:p>
            <a:pPr marL="0" indent="0">
              <a:buNone/>
            </a:pPr>
            <a:r>
              <a:rPr lang="en-US" sz="1250" b="1" dirty="0">
                <a:solidFill>
                  <a:schemeClr val="accent1"/>
                </a:solidFill>
              </a:rPr>
              <a:t>Monte Carlo estimates, m = 10⁴</a:t>
            </a:r>
            <a:endParaRPr lang="en-US" sz="1250" dirty="0"/>
          </a:p>
        </p:txBody>
      </p:sp>
      <p:sp>
        <p:nvSpPr>
          <p:cNvPr id="13" name="Text 10"/>
          <p:cNvSpPr txBox="1"/>
          <p:nvPr/>
        </p:nvSpPr>
        <p:spPr>
          <a:xfrm>
            <a:off x="6374740" y="5239512"/>
            <a:ext cx="2272970" cy="1033272"/>
          </a:xfrm>
          <a:prstGeom prst="rect">
            <a:avLst/>
          </a:prstGeom>
          <a:noFill/>
          <a:ln/>
        </p:spPr>
        <p:txBody>
          <a:bodyPr wrap="square" lIns="0" tIns="0" rIns="0" bIns="0" rtlCol="0" anchor="t"/>
          <a:lstStyle/>
          <a:p>
            <a:pPr marL="0" indent="0">
              <a:buNone/>
            </a:pPr>
            <a:r>
              <a:rPr lang="en-US" sz="1050" dirty="0">
                <a:solidFill>
                  <a:schemeClr val="tx1"/>
                </a:solidFill>
              </a:rPr>
              <a:t>Strict ETC, 100k trials:</a:t>
            </a:r>
            <a:endParaRPr lang="en-US" sz="1150" dirty="0"/>
          </a:p>
          <a:p>
            <a:pPr marL="0" indent="0">
              <a:buNone/>
            </a:pPr>
            <a:r>
              <a:rPr lang="en-US" sz="1050" dirty="0">
                <a:solidFill>
                  <a:schemeClr val="tx1"/>
                </a:solidFill>
              </a:rPr>
              <a:t>B 654.61 ± 5.10; C 676.32 ± 5.17</a:t>
            </a:r>
          </a:p>
          <a:p>
            <a:pPr marL="0" indent="0">
              <a:buNone/>
            </a:pPr>
            <a:r>
              <a:rPr lang="en-US" sz="1050" dirty="0">
                <a:solidFill>
                  <a:schemeClr val="tx1"/>
                </a:solidFill>
              </a:rPr>
              <a:t>Greedy ETC, 1k trials:</a:t>
            </a:r>
          </a:p>
          <a:p>
            <a:pPr marL="0" indent="0">
              <a:buNone/>
            </a:pPr>
            <a:r>
              <a:rPr lang="en-US" sz="1050" dirty="0">
                <a:solidFill>
                  <a:schemeClr val="tx1"/>
                </a:solidFill>
              </a:rPr>
              <a:t>B 256.14 ± 29.66; C 197.53 ± 24.47</a:t>
            </a:r>
          </a:p>
          <a:p>
            <a:pPr marL="0" indent="0">
              <a:buNone/>
            </a:pPr>
            <a:r>
              <a:rPr lang="en-US" sz="1050" dirty="0">
                <a:solidFill>
                  <a:schemeClr val="tx1"/>
                </a:solidFill>
              </a:rPr>
              <a:t>Mean ± SE.</a:t>
            </a:r>
          </a:p>
        </p:txBody>
      </p:sp>
      <p:sp>
        <p:nvSpPr>
          <p:cNvPr id="14" name="card"/>
          <p:cNvSpPr/>
          <p:nvPr/>
        </p:nvSpPr>
        <p:spPr>
          <a:xfrm>
            <a:off x="9040901" y="4892040"/>
            <a:ext cx="2602154" cy="1417320"/>
          </a:xfrm>
          <a:prstGeom prst="roundRect">
            <a:avLst>
              <a:gd name="adj" fmla="val 4516"/>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5" name="Text 12"/>
          <p:cNvSpPr txBox="1"/>
          <p:nvPr/>
        </p:nvSpPr>
        <p:spPr>
          <a:xfrm>
            <a:off x="9205493" y="4965192"/>
            <a:ext cx="2272970" cy="274320"/>
          </a:xfrm>
          <a:prstGeom prst="rect">
            <a:avLst/>
          </a:prstGeom>
          <a:noFill/>
          <a:ln/>
        </p:spPr>
        <p:txBody>
          <a:bodyPr wrap="square" lIns="0" tIns="0" rIns="0" bIns="0" rtlCol="0" anchor="t"/>
          <a:lstStyle/>
          <a:p>
            <a:pPr marL="0" indent="0">
              <a:buNone/>
            </a:pPr>
            <a:r>
              <a:rPr lang="en-US" sz="1250" b="1" dirty="0">
                <a:solidFill>
                  <a:schemeClr val="accent1"/>
                </a:solidFill>
              </a:rPr>
              <a:t>What follows</a:t>
            </a:r>
            <a:endParaRPr lang="en-US" sz="1250" dirty="0"/>
          </a:p>
        </p:txBody>
      </p:sp>
      <p:sp>
        <p:nvSpPr>
          <p:cNvPr id="16" name="Text 13"/>
          <p:cNvSpPr txBox="1"/>
          <p:nvPr/>
        </p:nvSpPr>
        <p:spPr>
          <a:xfrm>
            <a:off x="9205493" y="5239512"/>
            <a:ext cx="2272970" cy="1033272"/>
          </a:xfrm>
          <a:prstGeom prst="rect">
            <a:avLst/>
          </a:prstGeom>
          <a:noFill/>
          <a:ln/>
        </p:spPr>
        <p:txBody>
          <a:bodyPr wrap="square" lIns="0" tIns="0" rIns="0" bIns="0" rtlCol="0" anchor="t"/>
          <a:lstStyle/>
          <a:p>
            <a:pPr marL="0" indent="0">
              <a:buNone/>
            </a:pPr>
            <a:r>
              <a:rPr lang="en-US" sz="1150" dirty="0">
                <a:solidFill>
                  <a:schemeClr val="tx1"/>
                </a:solidFill>
              </a:rPr>
              <a:t>At highlighted m values, strict ETC costs more than UCB-Tuned. Greedy estimates are noisy; no universal winner or equivalence is established.</a:t>
            </a:r>
            <a:endParaRPr lang="en-US" sz="115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12</a:t>
            </a:fld>
            <a:endParaRPr lang="en-US"/>
          </a:p>
        </p:txBody>
      </p:sp>
      <p:sp>
        <p:nvSpPr>
          <p:cNvPr id="26" name="TextBox 25">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ETC code evidence: pinned commit ab0e657, src/algorithms/ETC.py, lines 45–57.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LIMITATIONS &amp; FUTURE SCOPE</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What the study leaves open, and where it can go next</a:t>
            </a:r>
            <a:endParaRPr lang="en-US" sz="2800" dirty="0"/>
          </a:p>
        </p:txBody>
      </p:sp>
      <p:sp>
        <p:nvSpPr>
          <p:cNvPr id="4" name="card"/>
          <p:cNvSpPr/>
          <p:nvPr/>
        </p:nvSpPr>
        <p:spPr>
          <a:xfrm>
            <a:off x="548640" y="1645920"/>
            <a:ext cx="3545738" cy="466344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column header"/>
          <p:cNvSpPr/>
          <p:nvPr/>
        </p:nvSpPr>
        <p:spPr>
          <a:xfrm>
            <a:off x="777240" y="1874520"/>
            <a:ext cx="3088538" cy="457200"/>
          </a:xfrm>
          <a:prstGeom prst="roundRect">
            <a:avLst>
              <a:gd name="adj" fmla="val 12000"/>
            </a:avLst>
          </a:prstGeom>
          <a:solidFill>
            <a:schemeClr val="tx2"/>
          </a:solidFill>
          <a:ln/>
        </p:spPr>
        <p:txBody>
          <a:bodyPr/>
          <a:lstStyle/>
          <a:p>
            <a:endParaRPr/>
          </a:p>
        </p:txBody>
      </p:sp>
      <p:sp>
        <p:nvSpPr>
          <p:cNvPr id="6" name="Text 4"/>
          <p:cNvSpPr txBox="1"/>
          <p:nvPr/>
        </p:nvSpPr>
        <p:spPr>
          <a:xfrm>
            <a:off x="777240" y="1874520"/>
            <a:ext cx="3088538"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Limits of the paper</a:t>
            </a:r>
            <a:endParaRPr lang="en-US" sz="1500" dirty="0"/>
          </a:p>
        </p:txBody>
      </p:sp>
      <p:sp>
        <p:nvSpPr>
          <p:cNvPr id="7" name="Text 5"/>
          <p:cNvSpPr txBox="1"/>
          <p:nvPr/>
        </p:nvSpPr>
        <p:spPr>
          <a:xfrm>
            <a:off x="822960" y="2560320"/>
            <a:ext cx="2997098" cy="36118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Stationary, binary-reward bandits only</a:t>
            </a:r>
            <a:endParaRPr lang="en-US" sz="1400" dirty="0"/>
          </a:p>
          <a:p>
            <a:pPr marL="177800" indent="-177800">
              <a:spcAft>
                <a:spcPts val="1000"/>
              </a:spcAft>
              <a:buSzPct val="100000"/>
              <a:buChar char="•"/>
            </a:pPr>
            <a:r>
              <a:rPr lang="en-US" sz="1400" dirty="0">
                <a:solidFill>
                  <a:schemeClr val="tx1"/>
                </a:solidFill>
              </a:rPr>
              <a:t>Two arms in every scenario (framework allows three)</a:t>
            </a:r>
            <a:endParaRPr lang="en-US" sz="1400" dirty="0"/>
          </a:p>
          <a:p>
            <a:pPr marL="177800" indent="-177800">
              <a:spcAft>
                <a:spcPts val="1000"/>
              </a:spcAft>
              <a:buSzPct val="100000"/>
              <a:buChar char="•"/>
            </a:pPr>
            <a:r>
              <a:rPr lang="en-US" sz="1400" dirty="0">
                <a:solidFill>
                  <a:schemeClr val="tx1"/>
                </a:solidFill>
              </a:rPr>
              <a:t>Only ETC and ε-Greedy are tuned; the rest use defaults</a:t>
            </a:r>
            <a:endParaRPr lang="en-US" sz="1400" dirty="0"/>
          </a:p>
          <a:p>
            <a:pPr marL="177800" indent="-177800">
              <a:spcAft>
                <a:spcPts val="1000"/>
              </a:spcAft>
              <a:buSzPct val="100000"/>
              <a:buChar char="•"/>
            </a:pPr>
            <a:r>
              <a:rPr lang="en-US" sz="1400" dirty="0">
                <a:solidFill>
                  <a:schemeClr val="tx1"/>
                </a:solidFill>
              </a:rPr>
              <a:t>ETC's best m needs knowledge of Δ or n</a:t>
            </a:r>
            <a:endParaRPr lang="en-US" sz="1400" dirty="0"/>
          </a:p>
          <a:p>
            <a:pPr marL="177800" indent="-177800">
              <a:spcAft>
                <a:spcPts val="1000"/>
              </a:spcAft>
              <a:buSzPct val="100000"/>
              <a:buChar char="•"/>
            </a:pPr>
            <a:r>
              <a:rPr lang="en-US" sz="1400" dirty="0">
                <a:solidFill>
                  <a:schemeClr val="tx1"/>
                </a:solidFill>
              </a:rPr>
              <a:t>Runtime and sample complexity are not analysed</a:t>
            </a:r>
            <a:endParaRPr lang="en-US" sz="1400" dirty="0"/>
          </a:p>
          <a:p>
            <a:pPr marL="177800" indent="-177800">
              <a:spcAft>
                <a:spcPts val="1000"/>
              </a:spcAft>
              <a:buSzPct val="100000"/>
              <a:buChar char="•"/>
            </a:pPr>
            <a:r>
              <a:rPr lang="en-US" sz="1400" dirty="0">
                <a:solidFill>
                  <a:schemeClr val="tx1"/>
                </a:solidFill>
              </a:rPr>
              <a:t>ETC is described as commit-after-exploration; results depend on that detail</a:t>
            </a:r>
            <a:endParaRPr lang="en-US" sz="1400" dirty="0"/>
          </a:p>
        </p:txBody>
      </p:sp>
      <p:sp>
        <p:nvSpPr>
          <p:cNvPr id="8" name="card"/>
          <p:cNvSpPr/>
          <p:nvPr/>
        </p:nvSpPr>
        <p:spPr>
          <a:xfrm>
            <a:off x="4322978" y="1645920"/>
            <a:ext cx="3545738" cy="466344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9" name="column header"/>
          <p:cNvSpPr/>
          <p:nvPr/>
        </p:nvSpPr>
        <p:spPr>
          <a:xfrm>
            <a:off x="4551578" y="1874520"/>
            <a:ext cx="3088538" cy="457200"/>
          </a:xfrm>
          <a:prstGeom prst="roundRect">
            <a:avLst>
              <a:gd name="adj" fmla="val 12000"/>
            </a:avLst>
          </a:prstGeom>
          <a:solidFill>
            <a:schemeClr val="accent1"/>
          </a:solidFill>
          <a:ln/>
        </p:spPr>
        <p:txBody>
          <a:bodyPr/>
          <a:lstStyle/>
          <a:p>
            <a:endParaRPr/>
          </a:p>
        </p:txBody>
      </p:sp>
      <p:sp>
        <p:nvSpPr>
          <p:cNvPr id="10" name="Text 8"/>
          <p:cNvSpPr txBox="1"/>
          <p:nvPr/>
        </p:nvSpPr>
        <p:spPr>
          <a:xfrm>
            <a:off x="4551578" y="1874520"/>
            <a:ext cx="3088538"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Limits of our reproduction</a:t>
            </a:r>
            <a:endParaRPr lang="en-US" sz="1500" dirty="0"/>
          </a:p>
        </p:txBody>
      </p:sp>
      <p:sp>
        <p:nvSpPr>
          <p:cNvPr id="11" name="Text 9"/>
          <p:cNvSpPr txBox="1"/>
          <p:nvPr/>
        </p:nvSpPr>
        <p:spPr>
          <a:xfrm>
            <a:off x="4597298" y="2560320"/>
            <a:ext cx="2997098" cy="36118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Three of eight methods reproduced; other values come from the paper</a:t>
            </a:r>
            <a:endParaRPr lang="en-US" sz="1400" dirty="0"/>
          </a:p>
          <a:p>
            <a:pPr marL="177800" indent="-177800">
              <a:spcAft>
                <a:spcPts val="1000"/>
              </a:spcAft>
              <a:buSzPct val="100000"/>
              <a:buChar char="•"/>
            </a:pPr>
            <a:r>
              <a:rPr lang="en-US" sz="1400" dirty="0">
                <a:solidFill>
                  <a:schemeClr val="tx1"/>
                </a:solidFill>
              </a:rPr>
              <a:t>100-trial micro-gap ETC estimates have large standard errors</a:t>
            </a:r>
            <a:endParaRPr lang="en-US" sz="1400" dirty="0"/>
          </a:p>
          <a:p>
            <a:pPr marL="177800" indent="-177800">
              <a:spcAft>
                <a:spcPts val="1000"/>
              </a:spcAft>
              <a:buSzPct val="100000"/>
              <a:buChar char="•"/>
            </a:pPr>
            <a:r>
              <a:rPr lang="en-US" sz="1400" dirty="0">
                <a:solidFill>
                  <a:schemeClr val="tx1"/>
                </a:solidFill>
              </a:rPr>
              <a:t>Different RNG streams and randomized arm order, not a byte-identical author rerun</a:t>
            </a:r>
            <a:endParaRPr lang="en-US" sz="1400" dirty="0"/>
          </a:p>
          <a:p>
            <a:pPr marL="177800" indent="-177800">
              <a:spcAft>
                <a:spcPts val="1000"/>
              </a:spcAft>
              <a:buSzPct val="100000"/>
              <a:buChar char="•"/>
            </a:pPr>
            <a:r>
              <a:rPr lang="en-US" sz="1400" dirty="0">
                <a:solidFill>
                  <a:schemeClr val="tx1"/>
                </a:solidFill>
              </a:rPr>
              <a:t>VaR and reward-variance tests not reproduced</a:t>
            </a:r>
            <a:endParaRPr lang="en-US" sz="1400" dirty="0"/>
          </a:p>
        </p:txBody>
      </p:sp>
      <p:sp>
        <p:nvSpPr>
          <p:cNvPr id="12" name="card"/>
          <p:cNvSpPr/>
          <p:nvPr/>
        </p:nvSpPr>
        <p:spPr>
          <a:xfrm>
            <a:off x="8097317" y="1645920"/>
            <a:ext cx="3545738" cy="4663440"/>
          </a:xfrm>
          <a:prstGeom prst="roundRect">
            <a:avLst>
              <a:gd name="adj" fmla="val 1805"/>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13" name="column header"/>
          <p:cNvSpPr/>
          <p:nvPr/>
        </p:nvSpPr>
        <p:spPr>
          <a:xfrm>
            <a:off x="8325917" y="1874520"/>
            <a:ext cx="3088538" cy="457200"/>
          </a:xfrm>
          <a:prstGeom prst="roundRect">
            <a:avLst>
              <a:gd name="adj" fmla="val 12000"/>
            </a:avLst>
          </a:prstGeom>
          <a:solidFill>
            <a:schemeClr val="tx1"/>
          </a:solidFill>
          <a:ln/>
        </p:spPr>
        <p:txBody>
          <a:bodyPr/>
          <a:lstStyle/>
          <a:p>
            <a:endParaRPr/>
          </a:p>
        </p:txBody>
      </p:sp>
      <p:sp>
        <p:nvSpPr>
          <p:cNvPr id="14" name="Text 12"/>
          <p:cNvSpPr txBox="1"/>
          <p:nvPr/>
        </p:nvSpPr>
        <p:spPr>
          <a:xfrm>
            <a:off x="8325917" y="1874520"/>
            <a:ext cx="3088538"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Future scope</a:t>
            </a:r>
            <a:endParaRPr lang="en-US" sz="1500" dirty="0"/>
          </a:p>
        </p:txBody>
      </p:sp>
      <p:sp>
        <p:nvSpPr>
          <p:cNvPr id="15" name="Text 13"/>
          <p:cNvSpPr txBox="1"/>
          <p:nvPr/>
        </p:nvSpPr>
        <p:spPr>
          <a:xfrm>
            <a:off x="8371637" y="2560320"/>
            <a:ext cx="2997098" cy="36118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More than two arms and non-binary rewards</a:t>
            </a:r>
            <a:endParaRPr lang="en-US" sz="1400" dirty="0"/>
          </a:p>
          <a:p>
            <a:pPr marL="177800" indent="-177800">
              <a:spcAft>
                <a:spcPts val="1000"/>
              </a:spcAft>
              <a:buSzPct val="100000"/>
              <a:buChar char="•"/>
            </a:pPr>
            <a:r>
              <a:rPr lang="en-US" sz="1400" dirty="0">
                <a:solidFill>
                  <a:schemeClr val="tx1"/>
                </a:solidFill>
              </a:rPr>
              <a:t>Non-stationary, delayed-reward and contextual bandits</a:t>
            </a:r>
            <a:endParaRPr lang="en-US" sz="1400" dirty="0"/>
          </a:p>
          <a:p>
            <a:pPr marL="177800" indent="-177800">
              <a:spcAft>
                <a:spcPts val="1000"/>
              </a:spcAft>
              <a:buSzPct val="100000"/>
              <a:buChar char="•"/>
            </a:pPr>
            <a:r>
              <a:rPr lang="en-US" sz="1400" dirty="0">
                <a:solidFill>
                  <a:schemeClr val="tx1"/>
                </a:solidFill>
              </a:rPr>
              <a:t>Runtime and compute trade-offs under tight budgets</a:t>
            </a:r>
            <a:endParaRPr lang="en-US" sz="1400" dirty="0"/>
          </a:p>
          <a:p>
            <a:pPr marL="177800" indent="-177800">
              <a:spcAft>
                <a:spcPts val="1000"/>
              </a:spcAft>
              <a:buSzPct val="100000"/>
              <a:buChar char="•"/>
            </a:pPr>
            <a:r>
              <a:rPr lang="en-US" sz="1400" dirty="0">
                <a:solidFill>
                  <a:schemeClr val="tx1"/>
                </a:solidFill>
              </a:rPr>
              <a:t>Risk-sensitive evaluation in applied domains</a:t>
            </a:r>
            <a:endParaRPr lang="en-US" sz="1400" dirty="0"/>
          </a:p>
          <a:p>
            <a:pPr marL="177800" indent="-177800">
              <a:spcAft>
                <a:spcPts val="1000"/>
              </a:spcAft>
              <a:buSzPct val="100000"/>
              <a:buChar char="•"/>
            </a:pPr>
            <a:r>
              <a:rPr lang="en-US" sz="1400" dirty="0">
                <a:solidFill>
                  <a:schemeClr val="tx1"/>
                </a:solidFill>
              </a:rPr>
              <a:t>Publish our per-run outputs and state one ETC definition</a:t>
            </a:r>
            <a:endParaRPr lang="en-US" sz="14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8229600" cy="274320"/>
          </a:xfrm>
          <a:prstGeom prst="rect">
            <a:avLst/>
          </a:prstGeom>
          <a:noFill/>
          <a:ln/>
        </p:spPr>
        <p:txBody>
          <a:bodyPr wrap="square" lIns="0" tIns="0" rIns="0" bIns="0" rtlCol="0" anchor="t"/>
          <a:lstStyle/>
          <a:p>
            <a:pPr marL="0" indent="0" algn="l">
              <a:buNone/>
            </a:pPr>
            <a:r>
              <a:rPr lang="en-US" sz="1200" b="1" kern="0" spc="300" dirty="0">
                <a:solidFill>
                  <a:schemeClr val="accent1"/>
                </a:solidFill>
              </a:rPr>
              <a:t>CRITICAL REFLECTION &amp; CONCLUSION</a:t>
            </a:r>
            <a:endParaRPr lang="en-US" sz="1200" dirty="0"/>
          </a:p>
        </p:txBody>
      </p:sp>
      <p:sp>
        <p:nvSpPr>
          <p:cNvPr id="3" name="Text 0"/>
          <p:cNvSpPr>
            <a:spLocks noGrp="1"/>
          </p:cNvSpPr>
          <p:nvPr>
            <p:ph type="title" idx="101" hasCustomPrompt="1"/>
          </p:nvPr>
        </p:nvSpPr>
        <p:spPr>
          <a:xfrm>
            <a:off x="548640" y="621792"/>
            <a:ext cx="11094415" cy="868680"/>
          </a:xfrm>
          <a:prstGeom prst="rect">
            <a:avLst/>
          </a:prstGeom>
          <a:noFill/>
          <a:ln/>
        </p:spPr>
        <p:txBody>
          <a:bodyPr wrap="square" lIns="0" tIns="0" rIns="0" bIns="0" rtlCol="0" anchor="t"/>
          <a:lstStyle/>
          <a:p>
            <a:pPr marL="0" indent="0" algn="l">
              <a:buNone/>
            </a:pPr>
            <a:r>
              <a:rPr lang="en-US" sz="2800" b="1" dirty="0">
                <a:solidFill>
                  <a:schemeClr val="tx1"/>
                </a:solidFill>
              </a:rPr>
              <a:t>Reproducible controls help; implementation and statistics matter</a:t>
            </a:r>
            <a:endParaRPr lang="en-US" sz="2800" dirty="0"/>
          </a:p>
        </p:txBody>
      </p:sp>
      <p:sp>
        <p:nvSpPr>
          <p:cNvPr id="4" name="card"/>
          <p:cNvSpPr/>
          <p:nvPr/>
        </p:nvSpPr>
        <p:spPr>
          <a:xfrm>
            <a:off x="548640" y="1645920"/>
            <a:ext cx="3611880" cy="3611880"/>
          </a:xfrm>
          <a:prstGeom prst="roundRect">
            <a:avLst>
              <a:gd name="adj" fmla="val 1772"/>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5" name="Text 3"/>
          <p:cNvSpPr txBox="1"/>
          <p:nvPr/>
        </p:nvSpPr>
        <p:spPr>
          <a:xfrm>
            <a:off x="777240" y="1828800"/>
            <a:ext cx="315468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Checked paper calculations</a:t>
            </a:r>
            <a:endParaRPr lang="en-US" sz="1700" dirty="0"/>
          </a:p>
        </p:txBody>
      </p:sp>
      <p:sp>
        <p:nvSpPr>
          <p:cNvPr id="6" name="Text 4"/>
          <p:cNvSpPr txBox="1"/>
          <p:nvPr/>
        </p:nvSpPr>
        <p:spPr>
          <a:xfrm>
            <a:off x="822960" y="2377440"/>
            <a:ext cx="3063240" cy="2743200"/>
          </a:xfrm>
          <a:prstGeom prst="rect">
            <a:avLst/>
          </a:prstGeom>
          <a:noFill/>
          <a:ln/>
        </p:spPr>
        <p:txBody>
          <a:bodyPr wrap="square" lIns="0" tIns="0" rIns="0" bIns="0" rtlCol="0" anchor="t"/>
          <a:lstStyle/>
          <a:p>
            <a:pPr marL="177800" indent="-177800">
              <a:spcAft>
                <a:spcPts val="1200"/>
              </a:spcAft>
              <a:buSzPct val="100000"/>
              <a:buChar char="•"/>
            </a:pPr>
            <a:r>
              <a:rPr lang="en-US" sz="1250" dirty="0">
                <a:solidFill>
                  <a:schemeClr val="tx1"/>
                </a:solidFill>
              </a:rPr>
              <a:t>A: 238.17 − 30.67 = 207.50; ratio 7.77</a:t>
            </a:r>
            <a:endParaRPr lang="en-US" sz="1400" dirty="0"/>
          </a:p>
          <a:p>
            <a:pPr marL="177800" indent="-177800">
              <a:spcAft>
                <a:spcPts val="1200"/>
              </a:spcAft>
              <a:buSzPct val="100000"/>
              <a:buChar char="•"/>
            </a:pPr>
            <a:r>
              <a:rPr lang="en-US" sz="1250" dirty="0">
                <a:solidFill>
                  <a:schemeClr val="tx1"/>
                </a:solidFill>
              </a:rPr>
              <a:t>B: 1,127.17 − 212.21 = 914.96; ratio 5.31</a:t>
            </a:r>
            <a:endParaRPr lang="en-US" sz="1400" dirty="0"/>
          </a:p>
          <a:p>
            <a:pPr marL="177800" indent="-177800">
              <a:spcAft>
                <a:spcPts val="1200"/>
              </a:spcAft>
              <a:buSzPct val="100000"/>
              <a:buChar char="•"/>
            </a:pPr>
            <a:r>
              <a:rPr lang="en-US" sz="1250" dirty="0">
                <a:solidFill>
                  <a:schemeClr val="tx1"/>
                </a:solidFill>
              </a:rPr>
              <a:t>C: 1,172.57 − 226.09 = 946.48; ratio 5.19</a:t>
            </a:r>
            <a:endParaRPr lang="en-US" sz="1400" dirty="0"/>
          </a:p>
          <a:p>
            <a:pPr marL="177800" indent="-177800">
              <a:spcAft>
                <a:spcPts val="1200"/>
              </a:spcAft>
              <a:buSzPct val="100000"/>
              <a:buChar char="•"/>
            </a:pPr>
            <a:r>
              <a:rPr lang="en-US" sz="1250" dirty="0">
                <a:solidFill>
                  <a:schemeClr val="tx1"/>
                </a:solidFill>
              </a:rPr>
              <a:t>All six local UCB means are within 6% of paper</a:t>
            </a:r>
            <a:endParaRPr lang="en-US" sz="1400" dirty="0"/>
          </a:p>
          <a:p>
            <a:r>
              <a:rPr lang="en-US" sz="1250" dirty="0">
                <a:solidFill>
                  <a:schemeClr val="tx1"/>
                </a:solidFill>
              </a:rPr>
              <a:t>Strength: common rules, seeds and open code support reproducibility</a:t>
            </a:r>
          </a:p>
        </p:txBody>
      </p:sp>
      <p:sp>
        <p:nvSpPr>
          <p:cNvPr id="7" name="card"/>
          <p:cNvSpPr/>
          <p:nvPr/>
        </p:nvSpPr>
        <p:spPr>
          <a:xfrm>
            <a:off x="4389120" y="1645920"/>
            <a:ext cx="3611880" cy="3611880"/>
          </a:xfrm>
          <a:prstGeom prst="roundRect">
            <a:avLst>
              <a:gd name="adj" fmla="val 1772"/>
            </a:avLst>
          </a:prstGeom>
          <a:solidFill>
            <a:schemeClr val="bg1"/>
          </a:solidFill>
          <a:ln w="9525">
            <a:solidFill>
              <a:schemeClr val="accent3"/>
            </a:solidFill>
            <a:prstDash val="solid"/>
          </a:ln>
          <a:effectLst>
            <a:outerShdw blurRad="76200" dist="19050" dir="5400000" algn="bl" rotWithShape="0">
              <a:srgbClr val="000000">
                <a:alpha val="7000"/>
              </a:srgbClr>
            </a:outerShdw>
          </a:effectLst>
        </p:spPr>
        <p:txBody>
          <a:bodyPr/>
          <a:lstStyle/>
          <a:p>
            <a:endParaRPr/>
          </a:p>
        </p:txBody>
      </p:sp>
      <p:sp>
        <p:nvSpPr>
          <p:cNvPr id="8" name="Text 6"/>
          <p:cNvSpPr txBox="1"/>
          <p:nvPr/>
        </p:nvSpPr>
        <p:spPr>
          <a:xfrm>
            <a:off x="4617720" y="1828800"/>
            <a:ext cx="3154680" cy="365760"/>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Concerns</a:t>
            </a:r>
            <a:endParaRPr lang="en-US" sz="1700" dirty="0"/>
          </a:p>
        </p:txBody>
      </p:sp>
      <p:sp>
        <p:nvSpPr>
          <p:cNvPr id="9" name="Text 7"/>
          <p:cNvSpPr txBox="1"/>
          <p:nvPr/>
        </p:nvSpPr>
        <p:spPr>
          <a:xfrm>
            <a:off x="4663440" y="2377440"/>
            <a:ext cx="3063240" cy="1554480"/>
          </a:xfrm>
          <a:prstGeom prst="rect">
            <a:avLst/>
          </a:prstGeom>
          <a:noFill/>
          <a:ln/>
        </p:spPr>
        <p:txBody>
          <a:bodyPr wrap="square" lIns="0" tIns="0" rIns="0" bIns="0" rtlCol="0" anchor="t"/>
          <a:lstStyle/>
          <a:p>
            <a:pPr marL="177800" indent="-177800">
              <a:spcAft>
                <a:spcPts val="1200"/>
              </a:spcAft>
              <a:buSzPct val="100000"/>
              <a:buChar char="•"/>
            </a:pPr>
            <a:r>
              <a:rPr lang="en-US" sz="1250" dirty="0">
                <a:solidFill>
                  <a:schemeClr val="tx1"/>
                </a:solidFill>
              </a:rPr>
              <a:t>ETC and PAC-UCB: text/code differ</a:t>
            </a:r>
            <a:endParaRPr lang="en-US" sz="1400" dirty="0"/>
          </a:p>
          <a:p>
            <a:pPr marL="177800" indent="-177800">
              <a:spcAft>
                <a:spcPts val="1200"/>
              </a:spcAft>
              <a:buSzPct val="100000"/>
              <a:buChar char="•"/>
            </a:pPr>
            <a:r>
              <a:rPr lang="en-US" sz="1250" dirty="0">
                <a:solidFill>
                  <a:schemeClr val="tx1"/>
                </a:solidFill>
              </a:rPr>
              <a:t>No confidence intervals for noisy ETC</a:t>
            </a:r>
            <a:endParaRPr lang="en-US" sz="1400" dirty="0"/>
          </a:p>
          <a:p>
            <a:pPr marL="177800" indent="-177800">
              <a:spcAft>
                <a:spcPts val="1200"/>
              </a:spcAft>
              <a:buSzPct val="100000"/>
              <a:buChar char="•"/>
            </a:pPr>
            <a:r>
              <a:rPr lang="en-US" sz="1250" dirty="0">
                <a:solidFill>
                  <a:schemeClr val="tx1"/>
                </a:solidFill>
              </a:rPr>
              <a:t>Bernoulli variance remains tied to the mean</a:t>
            </a:r>
            <a:endParaRPr lang="en-US" sz="1400" dirty="0"/>
          </a:p>
          <a:p>
            <a:pPr marL="177800" indent="-177800">
              <a:spcAft>
                <a:spcPts val="1200"/>
              </a:spcAft>
              <a:buSzPct val="100000"/>
              <a:buChar char="•"/>
            </a:pPr>
            <a:r>
              <a:rPr lang="en-US" sz="1250" dirty="0">
                <a:solidFill>
                  <a:schemeClr val="tx1"/>
                </a:solidFill>
              </a:rPr>
              <a:t>100 trial totals: usual df = 99 under normality</a:t>
            </a:r>
            <a:endParaRPr lang="en-US" sz="1400" dirty="0"/>
          </a:p>
        </p:txBody>
      </p:sp>
      <p:sp>
        <p:nvSpPr>
          <p:cNvPr id="10" name="verdict strip"/>
          <p:cNvSpPr/>
          <p:nvPr/>
        </p:nvSpPr>
        <p:spPr>
          <a:xfrm>
            <a:off x="548640" y="5394960"/>
            <a:ext cx="7452360" cy="914400"/>
          </a:xfrm>
          <a:prstGeom prst="roundRect">
            <a:avLst>
              <a:gd name="adj" fmla="val 7000"/>
            </a:avLst>
          </a:prstGeom>
          <a:solidFill>
            <a:schemeClr val="accent6"/>
          </a:solidFill>
          <a:ln/>
        </p:spPr>
        <p:txBody>
          <a:bodyPr/>
          <a:lstStyle/>
          <a:p>
            <a:endParaRPr/>
          </a:p>
        </p:txBody>
      </p:sp>
      <p:sp>
        <p:nvSpPr>
          <p:cNvPr id="11" name="Text 9"/>
          <p:cNvSpPr txBox="1"/>
          <p:nvPr/>
        </p:nvSpPr>
        <p:spPr>
          <a:xfrm>
            <a:off x="777240" y="5394960"/>
            <a:ext cx="6995160" cy="914400"/>
          </a:xfrm>
          <a:prstGeom prst="rect">
            <a:avLst/>
          </a:prstGeom>
          <a:noFill/>
          <a:ln/>
        </p:spPr>
        <p:txBody>
          <a:bodyPr wrap="square" lIns="0" tIns="0" rIns="0" bIns="0" rtlCol="0" anchor="ctr"/>
          <a:lstStyle/>
          <a:p>
            <a:pPr marL="0" indent="0">
              <a:buNone/>
            </a:pPr>
            <a:r>
              <a:rPr lang="en-US" sz="1400" b="1" dirty="0">
                <a:solidFill>
                  <a:schemeClr val="accent1"/>
                </a:solidFill>
              </a:rPr>
              <a:t>Verdict: UCB-Tuned improves on UCB in every tested setting. Tuned ETC can lead the reported means; implementation details and uncertainty must accompany that comparison.</a:t>
            </a:r>
            <a:endParaRPr lang="en-US" sz="1400" dirty="0"/>
          </a:p>
        </p:txBody>
      </p:sp>
      <p:sp>
        <p:nvSpPr>
          <p:cNvPr id="12" name="conclusion panel"/>
          <p:cNvSpPr/>
          <p:nvPr/>
        </p:nvSpPr>
        <p:spPr>
          <a:xfrm>
            <a:off x="8229600" y="1645920"/>
            <a:ext cx="3413455" cy="4663440"/>
          </a:xfrm>
          <a:prstGeom prst="roundRect">
            <a:avLst>
              <a:gd name="adj" fmla="val 1875"/>
            </a:avLst>
          </a:prstGeom>
          <a:solidFill>
            <a:schemeClr val="tx2"/>
          </a:solidFill>
          <a:ln/>
        </p:spPr>
        <p:txBody>
          <a:bodyPr/>
          <a:lstStyle/>
          <a:p>
            <a:endParaRPr/>
          </a:p>
        </p:txBody>
      </p:sp>
      <p:sp>
        <p:nvSpPr>
          <p:cNvPr id="13" name="Text 11"/>
          <p:cNvSpPr txBox="1"/>
          <p:nvPr/>
        </p:nvSpPr>
        <p:spPr>
          <a:xfrm>
            <a:off x="8503920" y="1828800"/>
            <a:ext cx="2743200" cy="274320"/>
          </a:xfrm>
          <a:prstGeom prst="rect">
            <a:avLst/>
          </a:prstGeom>
          <a:noFill/>
          <a:ln/>
        </p:spPr>
        <p:txBody>
          <a:bodyPr wrap="square" lIns="0" tIns="0" rIns="0" bIns="0" rtlCol="0" anchor="t"/>
          <a:lstStyle/>
          <a:p>
            <a:pPr marL="0" indent="0">
              <a:buNone/>
            </a:pPr>
            <a:r>
              <a:rPr lang="en-US" sz="1100" b="1" kern="0" spc="300" dirty="0">
                <a:solidFill>
                  <a:schemeClr val="accent4"/>
                </a:solidFill>
              </a:rPr>
              <a:t>CONCLUSION</a:t>
            </a:r>
            <a:endParaRPr lang="en-US" sz="1100" dirty="0"/>
          </a:p>
        </p:txBody>
      </p:sp>
      <p:sp>
        <p:nvSpPr>
          <p:cNvPr id="14" name="Text 12"/>
          <p:cNvSpPr txBox="1"/>
          <p:nvPr/>
        </p:nvSpPr>
        <p:spPr>
          <a:xfrm>
            <a:off x="8503920" y="2194560"/>
            <a:ext cx="2864815" cy="3931920"/>
          </a:xfrm>
          <a:prstGeom prst="rect">
            <a:avLst/>
          </a:prstGeom>
          <a:noFill/>
          <a:ln/>
        </p:spPr>
        <p:txBody>
          <a:bodyPr wrap="square" lIns="0" tIns="0" rIns="0" bIns="0" rtlCol="0" anchor="t"/>
          <a:lstStyle/>
          <a:p>
            <a:pPr marL="0" indent="0">
              <a:buNone/>
            </a:pPr>
            <a:r>
              <a:rPr lang="en-US" sz="1500" b="1" dirty="0">
                <a:solidFill>
                  <a:schemeClr val="accent4"/>
                </a:solidFill>
              </a:rPr>
              <a:t>RQ1  Reliable comparison needs common simulation rules, recorded versions and uncertainty.</a:t>
            </a:r>
            <a:endParaRPr lang="en-US" sz="1500" dirty="0"/>
          </a:p>
          <a:p>
            <a:pPr marL="0" indent="0">
              <a:buNone/>
            </a:pPr>
            <a:r>
              <a:rPr lang="en-US" sz="1500" b="1" dirty="0">
                <a:solidFill>
                  <a:schemeClr val="accent4"/>
                </a:solidFill>
              </a:rPr>
              <a:t>RQ2  UCB-Tuned has about one fifth of UCB’s regret in B/C; it also improves strongly in A.</a:t>
            </a:r>
            <a:endParaRPr lang="en-US" sz="1500" dirty="0"/>
          </a:p>
          <a:p>
            <a:pPr marL="0" indent="0">
              <a:buNone/>
            </a:pPr>
            <a:r>
              <a:rPr lang="en-US" sz="1500" b="1" dirty="0">
                <a:solidFill>
                  <a:schemeClr val="accent4"/>
                </a:solidFill>
              </a:rPr>
              <a:t>Overall  Evidence supports these settings, not universal superiority. ETC tuning and definitions change conclusions.</a:t>
            </a:r>
            <a:endParaRPr lang="en-US" sz="1500" dirty="0"/>
          </a:p>
        </p:txBody>
      </p:sp>
      <p:sp>
        <p:nvSpPr>
          <p:cNvPr id="25" name="Slide Number Placeholder 0"/>
          <p:cNvSpPr>
            <a:spLocks noGrp="1"/>
          </p:cNvSpPr>
          <p:nvPr>
            <p:ph type="sldNum" sz="quarter" idx="4294967295"/>
          </p:nvPr>
        </p:nvSpPr>
        <p:spPr>
          <a:xfrm>
            <a:off x="10911535" y="644652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14</a:t>
            </a:fld>
            <a:endParaRPr lang="en-US"/>
          </a:p>
        </p:txBody>
      </p:sp>
      <p:sp>
        <p:nvSpPr>
          <p:cNvPr id="26" name="TextBox 25">
            <a:hlinkClick r:id="rId3"/>
          </p:cNvPr>
          <p:cNvSpPr txBox="1"/>
          <p:nvPr/>
        </p:nvSpPr>
        <p:spPr>
          <a:xfrm>
            <a:off x="566928" y="6327648"/>
            <a:ext cx="9875520" cy="128016"/>
          </a:xfrm>
          <a:prstGeom prst="rect">
            <a:avLst/>
          </a:prstGeom>
          <a:noFill/>
        </p:spPr>
        <p:txBody>
          <a:bodyPr wrap="none" lIns="0" tIns="0" rIns="0" bIns="0">
            <a:spAutoFit/>
          </a:bodyPr>
          <a:lstStyle/>
          <a:p>
            <a:r>
              <a:rPr sz="900">
                <a:solidFill>
                  <a:srgbClr val="6B7780"/>
                </a:solidFill>
                <a:latin typeface="Aptos"/>
              </a:rPr>
              <a:t>χ² evidence: paper-linked src/experiments-SKILL.ipynb, cells 2, 4, 6, 8; 100 terminal trial totals.</a:t>
            </a:r>
          </a:p>
        </p:txBody>
      </p:sp>
      <p:sp>
        <p:nvSpPr>
          <p:cNvPr id="27" name="TextBox 26"/>
          <p:cNvSpPr txBox="1"/>
          <p:nvPr/>
        </p:nvSpPr>
        <p:spPr>
          <a:xfrm>
            <a:off x="4663440" y="4096512"/>
            <a:ext cx="3063240" cy="201168"/>
          </a:xfrm>
          <a:prstGeom prst="rect">
            <a:avLst/>
          </a:prstGeom>
          <a:noFill/>
        </p:spPr>
        <p:txBody>
          <a:bodyPr wrap="square" lIns="0" tIns="0" rIns="0" bIns="0">
            <a:spAutoFit/>
          </a:bodyPr>
          <a:lstStyle/>
          <a:p>
            <a:pPr>
              <a:spcBef>
                <a:spcPts val="0"/>
              </a:spcBef>
              <a:spcAft>
                <a:spcPts val="0"/>
              </a:spcAft>
            </a:pPr>
            <a:r>
              <a:rPr sz="1050" b="1">
                <a:solidFill>
                  <a:srgbClr val="1F5C63"/>
                </a:solidFill>
                <a:latin typeface="Aptos"/>
              </a:rPr>
              <a:t>NOTEBOOK SOURCE FRAGMENTS</a:t>
            </a:r>
          </a:p>
        </p:txBody>
      </p:sp>
      <p:sp>
        <p:nvSpPr>
          <p:cNvPr id="28" name="TextBox 27">
            <a:hlinkClick r:id="rId3"/>
          </p:cNvPr>
          <p:cNvSpPr txBox="1"/>
          <p:nvPr/>
        </p:nvSpPr>
        <p:spPr>
          <a:xfrm>
            <a:off x="4663440" y="4425696"/>
            <a:ext cx="3063240" cy="640080"/>
          </a:xfrm>
          <a:prstGeom prst="rect">
            <a:avLst/>
          </a:prstGeom>
          <a:noFill/>
        </p:spPr>
        <p:txBody>
          <a:bodyPr wrap="square" lIns="0" tIns="0" rIns="0" bIns="0">
            <a:spAutoFit/>
          </a:bodyPr>
          <a:lstStyle/>
          <a:p>
            <a:pPr>
              <a:spcBef>
                <a:spcPts val="0"/>
              </a:spcBef>
              <a:spcAft>
                <a:spcPts val="0"/>
              </a:spcAft>
            </a:pPr>
            <a:r>
              <a:rPr sz="1150" b="0">
                <a:solidFill>
                  <a:srgbClr val="1D2B2F"/>
                </a:solidFill>
                <a:latin typeface="Consolas"/>
              </a:rPr>
              <a:t>dof=999999</a:t>
            </a:r>
          </a:p>
          <a:p>
            <a:pPr>
              <a:spcBef>
                <a:spcPts val="0"/>
              </a:spcBef>
              <a:spcAft>
                <a:spcPts val="0"/>
              </a:spcAft>
            </a:pPr>
            <a:r>
              <a:rPr sz="1150" b="0">
                <a:solidFill>
                  <a:srgbClr val="1D2B2F"/>
                </a:solidFill>
                <a:latin typeface="Consolas"/>
              </a:rPr>
              <a:t>filtered_var['Total Reward'].var()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8229600" cy="274320"/>
          </a:xfrm>
          <a:prstGeom prst="rect">
            <a:avLst/>
          </a:prstGeom>
          <a:noFill/>
        </p:spPr>
        <p:txBody>
          <a:bodyPr wrap="square" lIns="0" tIns="0" rIns="0" bIns="0">
            <a:spAutoFit/>
          </a:bodyPr>
          <a:lstStyle/>
          <a:p>
            <a:r>
              <a:rPr sz="1000" b="1">
                <a:solidFill>
                  <a:srgbClr val="C0613A"/>
                </a:solidFill>
                <a:latin typeface="Aptos"/>
              </a:rPr>
              <a:t>CONTRIBUTOR PROOF</a:t>
            </a:r>
          </a:p>
        </p:txBody>
      </p:sp>
      <p:sp>
        <p:nvSpPr>
          <p:cNvPr id="3" name="TextBox 2"/>
          <p:cNvSpPr txBox="1"/>
          <p:nvPr/>
        </p:nvSpPr>
        <p:spPr>
          <a:xfrm>
            <a:off x="548640" y="731520"/>
            <a:ext cx="11064240" cy="640080"/>
          </a:xfrm>
          <a:prstGeom prst="rect">
            <a:avLst/>
          </a:prstGeom>
          <a:noFill/>
        </p:spPr>
        <p:txBody>
          <a:bodyPr wrap="square" lIns="0" tIns="0" rIns="0" bIns="0">
            <a:spAutoFit/>
          </a:bodyPr>
          <a:lstStyle/>
          <a:p>
            <a:r>
              <a:rPr sz="2800" b="1">
                <a:solidFill>
                  <a:srgbClr val="1D2B2F"/>
                </a:solidFill>
                <a:latin typeface="Aptos"/>
              </a:rPr>
              <a:t>Completed contributions and evidence</a:t>
            </a:r>
          </a:p>
        </p:txBody>
      </p:sp>
      <p:graphicFrame>
        <p:nvGraphicFramePr>
          <p:cNvPr id="4" name="Table 3"/>
          <p:cNvGraphicFramePr>
            <a:graphicFrameLocks noGrp="1"/>
          </p:cNvGraphicFramePr>
          <p:nvPr/>
        </p:nvGraphicFramePr>
        <p:xfrm>
          <a:off x="548640" y="1828800"/>
          <a:ext cx="11064240" cy="3282696"/>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02920">
                <a:tc>
                  <a:txBody>
                    <a:bodyPr/>
                    <a:lstStyle/>
                    <a:p>
                      <a:r>
                        <a:rPr sz="1400" b="1">
                          <a:solidFill>
                            <a:srgbClr val="FFFFFF"/>
                          </a:solidFill>
                          <a:latin typeface="Aptos"/>
                        </a:rPr>
                        <a:t>Contributor</a:t>
                      </a:r>
                    </a:p>
                  </a:txBody>
                  <a:tcPr marL="109728" marR="109728" anchor="ctr">
                    <a:solidFill>
                      <a:srgbClr val="1F5C63"/>
                    </a:solidFill>
                  </a:tcPr>
                </a:tc>
                <a:tc>
                  <a:txBody>
                    <a:bodyPr/>
                    <a:lstStyle/>
                    <a:p>
                      <a:r>
                        <a:rPr sz="1400" b="1">
                          <a:solidFill>
                            <a:srgbClr val="FFFFFF"/>
                          </a:solidFill>
                          <a:latin typeface="Aptos"/>
                        </a:rPr>
                        <a:t>Contribution completed</a:t>
                      </a:r>
                    </a:p>
                  </a:txBody>
                  <a:tcPr marL="109728" marR="109728" anchor="ctr">
                    <a:solidFill>
                      <a:srgbClr val="1F5C63"/>
                    </a:solidFill>
                  </a:tcPr>
                </a:tc>
                <a:tc>
                  <a:txBody>
                    <a:bodyPr/>
                    <a:lstStyle/>
                    <a:p>
                      <a:r>
                        <a:rPr sz="1400" b="1">
                          <a:solidFill>
                            <a:srgbClr val="FFFFFF"/>
                          </a:solidFill>
                          <a:latin typeface="Aptos"/>
                        </a:rPr>
                        <a:t>Evidence shown during the recording</a:t>
                      </a:r>
                    </a:p>
                  </a:txBody>
                  <a:tcPr marL="109728" marR="109728" anchor="ctr">
                    <a:solidFill>
                      <a:srgbClr val="1F5C63"/>
                    </a:solidFill>
                  </a:tcPr>
                </a:tc>
                <a:extLst>
                  <a:ext uri="{0D108BD9-81ED-4DB2-BD59-A6C34878D82A}">
                    <a16:rowId xmlns:a16="http://schemas.microsoft.com/office/drawing/2014/main" val="10000"/>
                  </a:ext>
                </a:extLst>
              </a:tr>
              <a:tr h="694944">
                <a:tc>
                  <a:txBody>
                    <a:bodyPr/>
                    <a:lstStyle/>
                    <a:p>
                      <a:r>
                        <a:rPr sz="1400" b="0">
                          <a:solidFill>
                            <a:srgbClr val="1D2B2F"/>
                          </a:solidFill>
                          <a:latin typeface="Aptos"/>
                        </a:rPr>
                        <a:t>Nithyasree A</a:t>
                      </a:r>
                    </a:p>
                  </a:txBody>
                  <a:tcPr marL="109728" marR="109728" anchor="ctr">
                    <a:solidFill>
                      <a:srgbClr val="FFFFFF"/>
                    </a:solidFill>
                  </a:tcPr>
                </a:tc>
                <a:tc>
                  <a:txBody>
                    <a:bodyPr/>
                    <a:lstStyle/>
                    <a:p>
                      <a:r>
                        <a:rPr sz="1400" b="0">
                          <a:solidFill>
                            <a:srgbClr val="1D2B2F"/>
                          </a:solidFill>
                          <a:latin typeface="Aptos"/>
                        </a:rPr>
                        <a:t>Paper analysis and citation verification</a:t>
                      </a:r>
                    </a:p>
                  </a:txBody>
                  <a:tcPr marL="109728" marR="109728" anchor="ctr">
                    <a:solidFill>
                      <a:srgbClr val="FFFFFF"/>
                    </a:solidFill>
                  </a:tcPr>
                </a:tc>
                <a:tc>
                  <a:txBody>
                    <a:bodyPr/>
                    <a:lstStyle/>
                    <a:p>
                      <a:r>
                        <a:rPr sz="1400" b="0">
                          <a:solidFill>
                            <a:srgbClr val="1D2B2F"/>
                          </a:solidFill>
                          <a:latin typeface="Aptos"/>
                        </a:rPr>
                        <a:t>Slides 2–4: research questions, source references and regret example</a:t>
                      </a:r>
                    </a:p>
                  </a:txBody>
                  <a:tcPr marL="109728" marR="109728" anchor="ctr">
                    <a:solidFill>
                      <a:srgbClr val="FFFFFF"/>
                    </a:solidFill>
                  </a:tcPr>
                </a:tc>
                <a:extLst>
                  <a:ext uri="{0D108BD9-81ED-4DB2-BD59-A6C34878D82A}">
                    <a16:rowId xmlns:a16="http://schemas.microsoft.com/office/drawing/2014/main" val="10001"/>
                  </a:ext>
                </a:extLst>
              </a:tr>
              <a:tr h="694944">
                <a:tc>
                  <a:txBody>
                    <a:bodyPr/>
                    <a:lstStyle/>
                    <a:p>
                      <a:r>
                        <a:rPr sz="1400" b="0">
                          <a:solidFill>
                            <a:srgbClr val="1D2B2F"/>
                          </a:solidFill>
                          <a:latin typeface="Aptos"/>
                        </a:rPr>
                        <a:t>Arjun Balaji</a:t>
                      </a:r>
                    </a:p>
                  </a:txBody>
                  <a:tcPr marL="109728" marR="109728" anchor="ctr">
                    <a:solidFill>
                      <a:srgbClr val="FFFFFF"/>
                    </a:solidFill>
                  </a:tcPr>
                </a:tc>
                <a:tc>
                  <a:txBody>
                    <a:bodyPr/>
                    <a:lstStyle/>
                    <a:p>
                      <a:r>
                        <a:rPr sz="1400" b="0">
                          <a:solidFill>
                            <a:srgbClr val="1D2B2F"/>
                          </a:solidFill>
                          <a:latin typeface="Aptos"/>
                        </a:rPr>
                        <a:t>Algorithm derivation and code mapping</a:t>
                      </a:r>
                    </a:p>
                  </a:txBody>
                  <a:tcPr marL="109728" marR="109728" anchor="ctr">
                    <a:solidFill>
                      <a:srgbClr val="FFFFFF"/>
                    </a:solidFill>
                  </a:tcPr>
                </a:tc>
                <a:tc>
                  <a:txBody>
                    <a:bodyPr/>
                    <a:lstStyle/>
                    <a:p>
                      <a:r>
                        <a:rPr sz="1400" b="0">
                          <a:solidFill>
                            <a:srgbClr val="1D2B2F"/>
                          </a:solidFill>
                          <a:latin typeface="Aptos"/>
                        </a:rPr>
                        <a:t>Slide 5: formulas and matching implementation excerpt</a:t>
                      </a:r>
                    </a:p>
                  </a:txBody>
                  <a:tcPr marL="109728" marR="109728" anchor="ctr">
                    <a:solidFill>
                      <a:srgbClr val="FFFFFF"/>
                    </a:solidFill>
                  </a:tcPr>
                </a:tc>
                <a:extLst>
                  <a:ext uri="{0D108BD9-81ED-4DB2-BD59-A6C34878D82A}">
                    <a16:rowId xmlns:a16="http://schemas.microsoft.com/office/drawing/2014/main" val="10002"/>
                  </a:ext>
                </a:extLst>
              </a:tr>
              <a:tr h="694944">
                <a:tc>
                  <a:txBody>
                    <a:bodyPr/>
                    <a:lstStyle/>
                    <a:p>
                      <a:r>
                        <a:rPr sz="1400" b="0">
                          <a:solidFill>
                            <a:srgbClr val="1D2B2F"/>
                          </a:solidFill>
                          <a:latin typeface="Aptos"/>
                        </a:rPr>
                        <a:t>Nallajala Saibhargav</a:t>
                      </a:r>
                    </a:p>
                  </a:txBody>
                  <a:tcPr marL="109728" marR="109728" anchor="ctr">
                    <a:solidFill>
                      <a:srgbClr val="FFFFFF"/>
                    </a:solidFill>
                  </a:tcPr>
                </a:tc>
                <a:tc>
                  <a:txBody>
                    <a:bodyPr/>
                    <a:lstStyle/>
                    <a:p>
                      <a:r>
                        <a:rPr sz="1400" b="0">
                          <a:solidFill>
                            <a:srgbClr val="1D2B2F"/>
                          </a:solidFill>
                          <a:latin typeface="Aptos"/>
                        </a:rPr>
                        <a:t>Experiment execution and implementation validation</a:t>
                      </a:r>
                    </a:p>
                  </a:txBody>
                  <a:tcPr marL="109728" marR="109728" anchor="ctr">
                    <a:solidFill>
                      <a:srgbClr val="FFFFFF"/>
                    </a:solidFill>
                  </a:tcPr>
                </a:tc>
                <a:tc>
                  <a:txBody>
                    <a:bodyPr/>
                    <a:lstStyle/>
                    <a:p>
                      <a:r>
                        <a:rPr sz="1400" b="0">
                          <a:solidFill>
                            <a:srgbClr val="1D2B2F"/>
                          </a:solidFill>
                          <a:latin typeface="Aptos"/>
                        </a:rPr>
                        <a:t>Slide 10: run settings, checks and saved CSV; generated plot on slide 11</a:t>
                      </a:r>
                    </a:p>
                  </a:txBody>
                  <a:tcPr marL="109728" marR="109728" anchor="ctr">
                    <a:solidFill>
                      <a:srgbClr val="FFFFFF"/>
                    </a:solidFill>
                  </a:tcPr>
                </a:tc>
                <a:extLst>
                  <a:ext uri="{0D108BD9-81ED-4DB2-BD59-A6C34878D82A}">
                    <a16:rowId xmlns:a16="http://schemas.microsoft.com/office/drawing/2014/main" val="10003"/>
                  </a:ext>
                </a:extLst>
              </a:tr>
              <a:tr h="694944">
                <a:tc>
                  <a:txBody>
                    <a:bodyPr/>
                    <a:lstStyle/>
                    <a:p>
                      <a:r>
                        <a:rPr sz="1400" b="0">
                          <a:solidFill>
                            <a:srgbClr val="1D2B2F"/>
                          </a:solidFill>
                          <a:latin typeface="Aptos"/>
                        </a:rPr>
                        <a:t>Ashok Kumar K S</a:t>
                      </a:r>
                    </a:p>
                  </a:txBody>
                  <a:tcPr marL="109728" marR="109728" anchor="ctr">
                    <a:solidFill>
                      <a:srgbClr val="FFFFFF"/>
                    </a:solidFill>
                  </a:tcPr>
                </a:tc>
                <a:tc>
                  <a:txBody>
                    <a:bodyPr/>
                    <a:lstStyle/>
                    <a:p>
                      <a:r>
                        <a:rPr sz="1400" b="0">
                          <a:solidFill>
                            <a:srgbClr val="1D2B2F"/>
                          </a:solidFill>
                          <a:latin typeface="Aptos"/>
                        </a:rPr>
                        <a:t>Result calculations and critical analysis</a:t>
                      </a:r>
                    </a:p>
                  </a:txBody>
                  <a:tcPr marL="109728" marR="109728" anchor="ctr">
                    <a:solidFill>
                      <a:srgbClr val="FFFFFF"/>
                    </a:solidFill>
                  </a:tcPr>
                </a:tc>
                <a:tc>
                  <a:txBody>
                    <a:bodyPr/>
                    <a:lstStyle/>
                    <a:p>
                      <a:r>
                        <a:rPr sz="1400" b="0">
                          <a:solidFill>
                            <a:srgbClr val="1D2B2F"/>
                          </a:solidFill>
                          <a:latin typeface="Aptos"/>
                        </a:rPr>
                        <a:t>Slides 12/14: author-code excerpts, calculations and statistical caveats</a:t>
                      </a:r>
                    </a:p>
                  </a:txBody>
                  <a:tcPr marL="109728" marR="109728"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94360" y="5596128"/>
            <a:ext cx="10881360" cy="502920"/>
          </a:xfrm>
          <a:prstGeom prst="rect">
            <a:avLst/>
          </a:prstGeom>
          <a:noFill/>
        </p:spPr>
        <p:txBody>
          <a:bodyPr wrap="square" lIns="0" tIns="0" rIns="0" bIns="0">
            <a:spAutoFit/>
          </a:bodyPr>
          <a:lstStyle/>
          <a:p>
            <a:r>
              <a:rPr sz="1400" b="0">
                <a:solidFill>
                  <a:srgbClr val="1F5C63"/>
                </a:solidFill>
                <a:latin typeface="Aptos"/>
              </a:rPr>
              <a:t>Each contributor explains the sources, formulas, code excerpts and result evidence embedded in their own slides.</a:t>
            </a:r>
          </a:p>
        </p:txBody>
      </p:sp>
      <p:sp>
        <p:nvSpPr>
          <p:cNvPr id="6" name="TextBox 5"/>
          <p:cNvSpPr txBox="1"/>
          <p:nvPr/>
        </p:nvSpPr>
        <p:spPr>
          <a:xfrm>
            <a:off x="548640" y="6446520"/>
            <a:ext cx="9144000" cy="228600"/>
          </a:xfrm>
          <a:prstGeom prst="rect">
            <a:avLst/>
          </a:prstGeom>
          <a:noFill/>
        </p:spPr>
        <p:txBody>
          <a:bodyPr wrap="square" lIns="0" tIns="0" rIns="0" bIns="0">
            <a:spAutoFit/>
          </a:bodyPr>
          <a:lstStyle/>
          <a:p>
            <a:r>
              <a:rPr sz="800" b="0">
                <a:solidFill>
                  <a:srgbClr val="6B7780"/>
                </a:solidFill>
                <a:latin typeface="Aptos"/>
              </a:rPr>
              <a:t>DRL Assignment I  |  Group 6</a:t>
            </a:r>
          </a:p>
        </p:txBody>
      </p:sp>
      <p:sp>
        <p:nvSpPr>
          <p:cNvPr id="7" name="TextBox 6"/>
          <p:cNvSpPr txBox="1"/>
          <p:nvPr/>
        </p:nvSpPr>
        <p:spPr>
          <a:xfrm>
            <a:off x="10908792" y="6446520"/>
            <a:ext cx="731520" cy="228600"/>
          </a:xfrm>
          <a:prstGeom prst="rect">
            <a:avLst/>
          </a:prstGeom>
          <a:noFill/>
        </p:spPr>
        <p:txBody>
          <a:bodyPr wrap="square" lIns="0" tIns="0" rIns="0" bIns="0">
            <a:spAutoFit/>
          </a:bodyPr>
          <a:lstStyle/>
          <a:p>
            <a:r>
              <a:rPr sz="800" b="0">
                <a:solidFill>
                  <a:srgbClr val="6B7780"/>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822960"/>
            <a:ext cx="6400800" cy="1005840"/>
          </a:xfrm>
          <a:prstGeom prst="rect">
            <a:avLst/>
          </a:prstGeom>
          <a:noFill/>
          <a:ln/>
        </p:spPr>
        <p:txBody>
          <a:bodyPr wrap="square" lIns="0" tIns="0" rIns="0" bIns="0" rtlCol="0" anchor="t"/>
          <a:lstStyle/>
          <a:p>
            <a:pPr marL="0" indent="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1920240"/>
            <a:ext cx="10515600" cy="365760"/>
          </a:xfrm>
          <a:prstGeom prst="rect">
            <a:avLst/>
          </a:prstGeom>
          <a:noFill/>
          <a:ln/>
        </p:spPr>
        <p:txBody>
          <a:bodyPr wrap="square" lIns="0" tIns="0" rIns="0" bIns="0" rtlCol="0" anchor="t"/>
          <a:lstStyle/>
          <a:p>
            <a:pPr marL="0" indent="0">
              <a:buNone/>
            </a:pPr>
            <a:r>
              <a:rPr lang="en-US" sz="1500" dirty="0">
                <a:solidFill>
                  <a:schemeClr val="accent4"/>
                </a:solidFill>
              </a:rPr>
              <a:t>Group 6  ·  Ashok Kumar K S  ·  Nithyasree A  ·  Nallajala Saibhargav  ·  Arjun Balaji</a:t>
            </a:r>
            <a:endParaRPr lang="en-US" sz="1500" dirty="0"/>
          </a:p>
        </p:txBody>
      </p:sp>
      <p:sp>
        <p:nvSpPr>
          <p:cNvPr id="4" name="link row"/>
          <p:cNvSpPr/>
          <p:nvPr/>
        </p:nvSpPr>
        <p:spPr>
          <a:xfrm>
            <a:off x="731520" y="2743200"/>
            <a:ext cx="10698480" cy="731520"/>
          </a:xfrm>
          <a:prstGeom prst="roundRect">
            <a:avLst>
              <a:gd name="adj" fmla="val 8750"/>
            </a:avLst>
          </a:prstGeom>
          <a:solidFill>
            <a:schemeClr val="tx2"/>
          </a:solidFill>
          <a:ln/>
        </p:spPr>
        <p:txBody>
          <a:bodyPr/>
          <a:lstStyle/>
          <a:p>
            <a:endParaRPr/>
          </a:p>
        </p:txBody>
      </p:sp>
      <p:sp>
        <p:nvSpPr>
          <p:cNvPr id="5" name="Text 3"/>
          <p:cNvSpPr txBox="1"/>
          <p:nvPr/>
        </p:nvSpPr>
        <p:spPr>
          <a:xfrm>
            <a:off x="960120" y="2743200"/>
            <a:ext cx="1828800" cy="731520"/>
          </a:xfrm>
          <a:prstGeom prst="rect">
            <a:avLst/>
          </a:prstGeom>
          <a:noFill/>
          <a:ln/>
        </p:spPr>
        <p:txBody>
          <a:bodyPr wrap="square" lIns="0" tIns="0" rIns="0" bIns="0" rtlCol="0" anchor="ctr"/>
          <a:lstStyle/>
          <a:p>
            <a:pPr marL="0" indent="0">
              <a:buNone/>
            </a:pPr>
            <a:r>
              <a:rPr lang="en-US" sz="1100" b="1" kern="0" spc="300" dirty="0">
                <a:solidFill>
                  <a:schemeClr val="accent4"/>
                </a:solidFill>
              </a:rPr>
              <a:t>PAPER</a:t>
            </a:r>
            <a:endParaRPr lang="en-US" sz="1100" dirty="0"/>
          </a:p>
        </p:txBody>
      </p:sp>
      <p:sp>
        <p:nvSpPr>
          <p:cNvPr id="6" name="Text 4">
            <a:hlinkClick r:id="rId3"/>
          </p:cNvPr>
          <p:cNvSpPr txBox="1"/>
          <p:nvPr/>
        </p:nvSpPr>
        <p:spPr>
          <a:xfrm>
            <a:off x="2834640" y="2743200"/>
            <a:ext cx="8412480" cy="731520"/>
          </a:xfrm>
          <a:prstGeom prst="rect">
            <a:avLst/>
          </a:prstGeom>
          <a:noFill/>
          <a:ln/>
        </p:spPr>
        <p:txBody>
          <a:bodyPr wrap="square" lIns="0" tIns="0" rIns="0" bIns="0" rtlCol="0" anchor="ctr"/>
          <a:lstStyle/>
          <a:p>
            <a:pPr marL="0" indent="0">
              <a:buNone/>
            </a:pPr>
            <a:r>
              <a:rPr lang="en-US" sz="1400" dirty="0">
                <a:solidFill>
                  <a:schemeClr val="bg1"/>
                </a:solidFill>
              </a:rPr>
              <a:t>Wolf, E. (2025). A Framework for Fair Evaluation of Variance-Aware Bandit Algorithms. arXiv:2510.27001v1</a:t>
            </a:r>
            <a:endParaRPr lang="en-US" sz="1400" dirty="0"/>
          </a:p>
        </p:txBody>
      </p:sp>
      <p:sp>
        <p:nvSpPr>
          <p:cNvPr id="7" name="link row"/>
          <p:cNvSpPr/>
          <p:nvPr/>
        </p:nvSpPr>
        <p:spPr>
          <a:xfrm>
            <a:off x="731520" y="3611880"/>
            <a:ext cx="10698480" cy="731520"/>
          </a:xfrm>
          <a:prstGeom prst="roundRect">
            <a:avLst>
              <a:gd name="adj" fmla="val 8750"/>
            </a:avLst>
          </a:prstGeom>
          <a:solidFill>
            <a:schemeClr val="tx2"/>
          </a:solidFill>
          <a:ln/>
        </p:spPr>
        <p:txBody>
          <a:bodyPr/>
          <a:lstStyle/>
          <a:p>
            <a:endParaRPr/>
          </a:p>
        </p:txBody>
      </p:sp>
      <p:sp>
        <p:nvSpPr>
          <p:cNvPr id="8" name="Text 6"/>
          <p:cNvSpPr txBox="1"/>
          <p:nvPr/>
        </p:nvSpPr>
        <p:spPr>
          <a:xfrm>
            <a:off x="960120" y="3611880"/>
            <a:ext cx="1828800" cy="731520"/>
          </a:xfrm>
          <a:prstGeom prst="rect">
            <a:avLst/>
          </a:prstGeom>
          <a:noFill/>
          <a:ln/>
        </p:spPr>
        <p:txBody>
          <a:bodyPr wrap="square" lIns="0" tIns="0" rIns="0" bIns="0" rtlCol="0" anchor="ctr"/>
          <a:lstStyle/>
          <a:p>
            <a:pPr marL="0" indent="0">
              <a:buNone/>
            </a:pPr>
            <a:r>
              <a:rPr lang="en-US" sz="1100" b="1" kern="0" spc="300" dirty="0">
                <a:solidFill>
                  <a:schemeClr val="accent4"/>
                </a:solidFill>
              </a:rPr>
              <a:t>AUTHORS' CODE</a:t>
            </a:r>
            <a:endParaRPr lang="en-US" sz="1100" dirty="0"/>
          </a:p>
        </p:txBody>
      </p:sp>
      <p:sp>
        <p:nvSpPr>
          <p:cNvPr id="9" name="Text 7">
            <a:hlinkClick r:id="rId4"/>
          </p:cNvPr>
          <p:cNvSpPr txBox="1"/>
          <p:nvPr/>
        </p:nvSpPr>
        <p:spPr>
          <a:xfrm>
            <a:off x="2834640" y="3611880"/>
            <a:ext cx="8412480" cy="731520"/>
          </a:xfrm>
          <a:prstGeom prst="rect">
            <a:avLst/>
          </a:prstGeom>
          <a:noFill/>
          <a:ln/>
        </p:spPr>
        <p:txBody>
          <a:bodyPr wrap="square" lIns="0" tIns="0" rIns="0" bIns="0" rtlCol="0" anchor="ctr"/>
          <a:lstStyle/>
          <a:p>
            <a:pPr marL="0" indent="0">
              <a:buNone/>
            </a:pPr>
            <a:r>
              <a:rPr lang="en-US" sz="1400" dirty="0">
                <a:solidFill>
                  <a:schemeClr val="bg1"/>
                </a:solidFill>
              </a:rPr>
              <a:t>Bandit Playground · paper-linked branch v1.0-SKILL2025 · commit ab0e657</a:t>
            </a:r>
            <a:endParaRPr lang="en-US" sz="1400" dirty="0"/>
          </a:p>
        </p:txBody>
      </p:sp>
      <p:sp>
        <p:nvSpPr>
          <p:cNvPr id="10" name="link row"/>
          <p:cNvSpPr/>
          <p:nvPr/>
        </p:nvSpPr>
        <p:spPr>
          <a:xfrm>
            <a:off x="731520" y="4480560"/>
            <a:ext cx="10698480" cy="731520"/>
          </a:xfrm>
          <a:prstGeom prst="roundRect">
            <a:avLst>
              <a:gd name="adj" fmla="val 8750"/>
            </a:avLst>
          </a:prstGeom>
          <a:solidFill>
            <a:schemeClr val="tx2"/>
          </a:solidFill>
          <a:ln/>
        </p:spPr>
        <p:txBody>
          <a:bodyPr/>
          <a:lstStyle/>
          <a:p>
            <a:endParaRPr/>
          </a:p>
        </p:txBody>
      </p:sp>
      <p:sp>
        <p:nvSpPr>
          <p:cNvPr id="11" name="Text 9"/>
          <p:cNvSpPr txBox="1"/>
          <p:nvPr/>
        </p:nvSpPr>
        <p:spPr>
          <a:xfrm>
            <a:off x="960120" y="4480560"/>
            <a:ext cx="1828800" cy="731520"/>
          </a:xfrm>
          <a:prstGeom prst="rect">
            <a:avLst/>
          </a:prstGeom>
          <a:noFill/>
          <a:ln/>
        </p:spPr>
        <p:txBody>
          <a:bodyPr wrap="square" lIns="0" tIns="0" rIns="0" bIns="0" rtlCol="0" anchor="ctr"/>
          <a:lstStyle/>
          <a:p>
            <a:pPr marL="0" indent="0">
              <a:buNone/>
            </a:pPr>
            <a:r>
              <a:rPr lang="en-US" sz="1100" b="1" kern="0" spc="300" dirty="0">
                <a:solidFill>
                  <a:schemeClr val="accent4"/>
                </a:solidFill>
              </a:rPr>
              <a:t>OUR REPO</a:t>
            </a:r>
            <a:endParaRPr lang="en-US" sz="1100" dirty="0"/>
          </a:p>
        </p:txBody>
      </p:sp>
      <p:sp>
        <p:nvSpPr>
          <p:cNvPr id="12" name="Text 10">
            <a:hlinkClick r:id="rId5"/>
          </p:cNvPr>
          <p:cNvSpPr txBox="1"/>
          <p:nvPr/>
        </p:nvSpPr>
        <p:spPr>
          <a:xfrm>
            <a:off x="2834640" y="4480560"/>
            <a:ext cx="8412480" cy="731520"/>
          </a:xfrm>
          <a:prstGeom prst="rect">
            <a:avLst/>
          </a:prstGeom>
          <a:noFill/>
          <a:ln/>
        </p:spPr>
        <p:txBody>
          <a:bodyPr wrap="square" lIns="0" tIns="0" rIns="0" bIns="0" rtlCol="0" anchor="ctr"/>
          <a:lstStyle/>
          <a:p>
            <a:pPr marL="0" indent="0">
              <a:buNone/>
            </a:pPr>
            <a:r>
              <a:rPr lang="en-US" sz="1400" b="1" dirty="0">
                <a:solidFill>
                  <a:schemeClr val="bg1"/>
                </a:solidFill>
              </a:rPr>
              <a:t>github.com/nithya3080/drl-assignment-1-group6</a:t>
            </a:r>
            <a:endParaRPr lang="en-US" sz="1400" dirty="0"/>
          </a:p>
        </p:txBody>
      </p:sp>
      <p:sp>
        <p:nvSpPr>
          <p:cNvPr id="13" name="link row"/>
          <p:cNvSpPr/>
          <p:nvPr/>
        </p:nvSpPr>
        <p:spPr>
          <a:xfrm>
            <a:off x="731520" y="5349240"/>
            <a:ext cx="10698480" cy="731520"/>
          </a:xfrm>
          <a:prstGeom prst="roundRect">
            <a:avLst>
              <a:gd name="adj" fmla="val 8750"/>
            </a:avLst>
          </a:prstGeom>
          <a:solidFill>
            <a:schemeClr val="tx2"/>
          </a:solidFill>
          <a:ln/>
        </p:spPr>
        <p:txBody>
          <a:bodyPr/>
          <a:lstStyle/>
          <a:p>
            <a:endParaRPr lang="en-US"/>
          </a:p>
        </p:txBody>
      </p:sp>
      <p:sp>
        <p:nvSpPr>
          <p:cNvPr id="14" name="Text 12"/>
          <p:cNvSpPr txBox="1"/>
          <p:nvPr/>
        </p:nvSpPr>
        <p:spPr>
          <a:xfrm>
            <a:off x="960120" y="5349240"/>
            <a:ext cx="1828800" cy="731520"/>
          </a:xfrm>
          <a:prstGeom prst="rect">
            <a:avLst/>
          </a:prstGeom>
          <a:noFill/>
          <a:ln/>
        </p:spPr>
        <p:txBody>
          <a:bodyPr wrap="square" lIns="0" tIns="0" rIns="0" bIns="0" rtlCol="0" anchor="ctr"/>
          <a:lstStyle/>
          <a:p>
            <a:pPr marL="0" indent="0">
              <a:buNone/>
            </a:pPr>
            <a:r>
              <a:rPr lang="en-US" sz="1100" b="1" kern="0" spc="300" dirty="0">
                <a:solidFill>
                  <a:schemeClr val="accent4"/>
                </a:solidFill>
              </a:rPr>
              <a:t>RECORDING</a:t>
            </a:r>
            <a:endParaRPr lang="en-US" sz="1100" dirty="0"/>
          </a:p>
        </p:txBody>
      </p:sp>
      <p:sp>
        <p:nvSpPr>
          <p:cNvPr id="15" name="Group6_Recording_Link"/>
          <p:cNvSpPr txBox="1"/>
          <p:nvPr/>
        </p:nvSpPr>
        <p:spPr>
          <a:xfrm>
            <a:off x="2834640" y="5349240"/>
            <a:ext cx="8412480" cy="731520"/>
          </a:xfrm>
          <a:prstGeom prst="rect">
            <a:avLst/>
          </a:prstGeom>
          <a:noFill/>
          <a:ln/>
        </p:spPr>
        <p:txBody>
          <a:bodyPr wrap="square" lIns="0" tIns="0" rIns="0" bIns="0" rtlCol="0" anchor="ctr"/>
          <a:lstStyle/>
          <a:p>
            <a:pPr marL="0" indent="0">
              <a:buNone/>
            </a:pPr>
            <a:r>
              <a:rPr lang="en-US" sz="1400" b="1" dirty="0">
                <a:solidFill>
                  <a:schemeClr val="bg1"/>
                </a:solidFill>
              </a:rPr>
              <a:t>[ PASTE SHAREABLE DRIVE LINK HERE BEFORE SUBMITTING ]</a:t>
            </a:r>
            <a:endParaRPr lang="en-US" sz="1400" dirty="0"/>
          </a:p>
        </p:txBody>
      </p:sp>
      <p:sp>
        <p:nvSpPr>
          <p:cNvPr id="16" name="Text 14"/>
          <p:cNvSpPr txBox="1"/>
          <p:nvPr/>
        </p:nvSpPr>
        <p:spPr>
          <a:xfrm>
            <a:off x="731520" y="6400800"/>
            <a:ext cx="7315200" cy="274320"/>
          </a:xfrm>
          <a:prstGeom prst="rect">
            <a:avLst/>
          </a:prstGeom>
          <a:noFill/>
          <a:ln/>
        </p:spPr>
        <p:txBody>
          <a:bodyPr wrap="square" lIns="0" tIns="0" rIns="0" bIns="0" rtlCol="0" anchor="t"/>
          <a:lstStyle/>
          <a:p>
            <a:pPr marL="0" indent="0">
              <a:buNone/>
            </a:pPr>
            <a:r>
              <a:rPr lang="en-US" sz="1000" dirty="0">
                <a:solidFill>
                  <a:schemeClr val="accent4"/>
                </a:solidFill>
              </a:rPr>
              <a:t>DRL Assignment I   |   BITS Pilani WILP</a:t>
            </a:r>
            <a:endParaRPr lang="en-US" sz="1000" dirty="0"/>
          </a:p>
        </p:txBody>
      </p:sp>
    </p:spTree>
  </p:cSld>
  <p:clrMapOvr>
    <a:masterClrMapping/>
  </p:clrMapOvr>
</p:sld>
</file>

<file path=ppt/theme/theme1.xml><?xml version="1.0" encoding="utf-8"?>
<a:theme xmlns:a="http://schemas.openxmlformats.org/drawingml/2006/main" name="Group6 Ink Teal">
  <a:themeElements>
    <a:clrScheme name="Group6 Ink Teal">
      <a:dk1>
        <a:srgbClr val="133A42"/>
      </a:dk1>
      <a:lt1>
        <a:srgbClr val="FFFFFF"/>
      </a:lt1>
      <a:dk2>
        <a:srgbClr val="1F5C63"/>
      </a:dk2>
      <a:lt2>
        <a:srgbClr val="F6F4EF"/>
      </a:lt2>
      <a:accent1>
        <a:srgbClr val="C0613A"/>
      </a:accent1>
      <a:accent2>
        <a:srgbClr val="6B7780"/>
      </a:accent2>
      <a:accent3>
        <a:srgbClr val="DDD8CC"/>
      </a:accent3>
      <a:accent4>
        <a:srgbClr val="C9BFA9"/>
      </a:accent4>
      <a:accent5>
        <a:srgbClr val="E3ECEA"/>
      </a:accent5>
      <a:accent6>
        <a:srgbClr val="F3E3DA"/>
      </a:accent6>
      <a:hlink>
        <a:srgbClr val="1F5C63"/>
      </a:hlink>
      <a:folHlink>
        <a:srgbClr val="6B7780"/>
      </a:folHlink>
    </a:clrScheme>
    <a:fontScheme name="Group6 Ink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3713</Words>
  <Application>Microsoft Office PowerPoint</Application>
  <PresentationFormat>Widescreen</PresentationFormat>
  <Paragraphs>430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Cambria</vt:lpstr>
      <vt:lpstr>Consolas</vt:lpstr>
      <vt:lpstr>Group6 Ink Teal</vt:lpstr>
      <vt:lpstr>PowerPoint Presentation</vt:lpstr>
      <vt:lpstr>Bandit algorithms are rarely compared on equal terms</vt:lpstr>
      <vt:lpstr>Pseudo-regret measures the cost of choosing suboptimal arms</vt:lpstr>
      <vt:lpstr>Eight algorithms in three families, from simple to variance-aware</vt:lpstr>
      <vt:lpstr>ETC, UCB and UCB-Tuned differ in how they price uncertainty</vt:lpstr>
      <vt:lpstr>Paper’s setup: common initialization and controlled time steps</vt:lpstr>
      <vt:lpstr>Three controlled Bernoulli scenarios vary gap and uncertainty</vt:lpstr>
      <vt:lpstr>Reported best ETC settings lead; UCB-Tuned leads the defaults</vt:lpstr>
      <vt:lpstr>UCB-Tuned lowers regret in all three reported settings</vt:lpstr>
      <vt:lpstr>Partial reproduction: three methods at the full horizon</vt:lpstr>
      <vt:lpstr>UCB results agree closely; ETC needs a precise definition</vt:lpstr>
      <vt:lpstr>ETC’s definition changes the empirical comparison</vt:lpstr>
      <vt:lpstr>What the study leaves open, and where it can go next</vt:lpstr>
      <vt:lpstr>Reproducible controls help; implementation and statistics matter</vt:lpstr>
      <vt:lpstr>PowerPoint Presentation</vt:lpstr>
      <vt:lpstr>PowerPoint Presentation</vt:lpstr>
    </vt:vector>
  </TitlesOfParts>
  <Company>BITS Pilani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Framework for Fair Evaluation of Variance-Aware Bandit Algorithms - Group 6</dc:title>
  <dc:subject>PptxGenJS Presentation</dc:subject>
  <dc:creator>Group 6</dc:creator>
  <cp:lastModifiedBy>Balaji, Arjun</cp:lastModifiedBy>
  <cp:revision>1</cp:revision>
  <dcterms:created xsi:type="dcterms:W3CDTF">2026-10-11T08:57:51Z</dcterms:created>
  <dcterms:modified xsi:type="dcterms:W3CDTF">2026-10-11T12:25:50Z</dcterms:modified>
</cp:coreProperties>
</file>